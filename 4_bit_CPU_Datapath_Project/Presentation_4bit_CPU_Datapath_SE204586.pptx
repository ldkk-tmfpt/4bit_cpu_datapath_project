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7" r:id="rId2"/>
    <p:sldId id="268" r:id="rId3"/>
    <p:sldId id="293" r:id="rId4"/>
    <p:sldId id="294" r:id="rId5"/>
    <p:sldId id="271" r:id="rId6"/>
    <p:sldId id="273" r:id="rId7"/>
    <p:sldId id="269" r:id="rId8"/>
    <p:sldId id="276" r:id="rId9"/>
    <p:sldId id="295" r:id="rId10"/>
    <p:sldId id="277" r:id="rId11"/>
    <p:sldId id="280" r:id="rId12"/>
    <p:sldId id="281" r:id="rId13"/>
    <p:sldId id="292" r:id="rId14"/>
  </p:sldIdLst>
  <p:sldSz cx="12192000" cy="6858000"/>
  <p:notesSz cx="6858000" cy="9144000"/>
  <p:embeddedFontLst>
    <p:embeddedFont>
      <p:font typeface="Inter" panose="020B0604020202020204" charset="0"/>
      <p:regular r:id="rId16"/>
    </p:embeddedFont>
    <p:embeddedFont>
      <p:font typeface="Lexend" panose="020B0604020202020204" charset="0"/>
      <p:regular r:id="rId17"/>
      <p:bold r:id="rId18"/>
    </p:embeddedFont>
    <p:embeddedFont>
      <p:font typeface="Lexend Black" panose="020B0604020202020204" charset="0"/>
      <p:regular r:id="rId19"/>
    </p:embeddedFont>
    <p:embeddedFont>
      <p:font typeface="Lexend Semi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A3EE6C9C-4042-411A-97D3-8BE84F64FA02}">
          <p14:sldIdLst>
            <p14:sldId id="257"/>
            <p14:sldId id="268"/>
            <p14:sldId id="293"/>
            <p14:sldId id="294"/>
            <p14:sldId id="271"/>
            <p14:sldId id="273"/>
            <p14:sldId id="269"/>
            <p14:sldId id="276"/>
            <p14:sldId id="295"/>
            <p14:sldId id="277"/>
            <p14:sldId id="280"/>
            <p14:sldId id="28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81" autoAdjust="0"/>
  </p:normalViewPr>
  <p:slideViewPr>
    <p:cSldViewPr snapToGrid="0">
      <p:cViewPr>
        <p:scale>
          <a:sx n="100" d="100"/>
          <a:sy n="100" d="100"/>
        </p:scale>
        <p:origin x="4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34908-7B01-407E-A3D6-702A8577F603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6EDB4-E067-4B7C-87F3-50631FEB2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42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79568-A4D1-E9AB-7239-60FDFA0CC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62376-C249-03E7-6EC8-9A20C25FF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CD0CD-6103-0D01-4417-79A1F3761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A9BF6-9997-91B1-CA1C-FFDAE0DBCD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0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2C04A-537A-43DA-862F-FAEFD8B2D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AAACA-65D1-F603-F11A-7E893582C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50C30-0D43-F9B7-84A4-FAFFF0E3F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D7C79-4F9D-B60B-FABB-B41FA2E0C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56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EA9B4-7BEB-D555-475B-175115892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97E89-154B-8C16-1A26-DF17FE0F0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13E19-71B6-9265-A843-C34DE51F6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9C172-1D1F-2483-1B21-D42BD111C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97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85768df-e795-4956-8543-e11ac8470514-0::bg-accent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286000"/>
            <a:ext cx="7315200" cy="7315200"/>
          </a:xfrm>
          <a:prstGeom prst="rect">
            <a:avLst/>
          </a:prstGeom>
        </p:spPr>
      </p:pic>
      <p:sp>
        <p:nvSpPr>
          <p:cNvPr id="3" name="b698597e-ab22-46fe-bceb-ac1405dc2c30"/>
          <p:cNvSpPr/>
          <p:nvPr/>
        </p:nvSpPr>
        <p:spPr>
          <a:xfrm>
            <a:off x="457200" y="457200"/>
            <a:ext cx="11315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ea typeface="Lexend" pitchFamily="34" charset="-122"/>
                <a:cs typeface="Lexend" pitchFamily="34" charset="-120"/>
              </a:rPr>
              <a:t>4-Bit CPU Datapath</a:t>
            </a:r>
            <a:endParaRPr lang="en-US" sz="3600" dirty="0"/>
          </a:p>
        </p:txBody>
      </p:sp>
      <p:sp>
        <p:nvSpPr>
          <p:cNvPr id="4" name="1a8e7155-0017-4524-84bc-217c8fc50a44"/>
          <p:cNvSpPr/>
          <p:nvPr/>
        </p:nvSpPr>
        <p:spPr>
          <a:xfrm>
            <a:off x="457200" y="990600"/>
            <a:ext cx="11315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>
                    <a:alpha val="70000"/>
                  </a:srgbClr>
                </a:solidFill>
                <a:ea typeface="Lexend" pitchFamily="34" charset="-122"/>
                <a:cs typeface="Lexend" pitchFamily="34" charset="-120"/>
              </a:rPr>
              <a:t>Architecture, Module Breakdown, and Verification Strategy</a:t>
            </a:r>
            <a:endParaRPr lang="en-US" sz="1500" dirty="0"/>
          </a:p>
        </p:txBody>
      </p:sp>
      <p:grpSp>
        <p:nvGrpSpPr>
          <p:cNvPr id="45" name="group-RlQ3E_ln06byU202uXto7"/>
          <p:cNvGrpSpPr/>
          <p:nvPr/>
        </p:nvGrpSpPr>
        <p:grpSpPr>
          <a:xfrm>
            <a:off x="457200" y="1885950"/>
            <a:ext cx="4524375" cy="3009900"/>
            <a:chOff x="457200" y="1885950"/>
            <a:chExt cx="4524375" cy="3009900"/>
          </a:xfrm>
        </p:grpSpPr>
        <p:sp>
          <p:nvSpPr>
            <p:cNvPr id="5" name="slide-085768df-e795-4956-8543-e11ac8470514-0::project-info"/>
            <p:cNvSpPr/>
            <p:nvPr/>
          </p:nvSpPr>
          <p:spPr>
            <a:xfrm>
              <a:off x="457200" y="1885950"/>
              <a:ext cx="4524375" cy="3009900"/>
            </a:xfrm>
            <a:prstGeom prst="roundRect">
              <a:avLst>
                <a:gd name="adj" fmla="val 5063"/>
              </a:avLst>
            </a:prstGeom>
            <a:solidFill>
              <a:srgbClr val="F3F3F3"/>
            </a:solidFill>
            <a:ln w="19050">
              <a:solidFill>
                <a:srgbClr val="E7E8FF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pic>
          <p:nvPicPr>
            <p:cNvPr id="37" name="d79e45e5-a060-47f6-a2fe-d62775004c0c" descr="d79e45e5-a060-47f6-a2fe-d62775004c0c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781050" y="2209800"/>
              <a:ext cx="457200" cy="457200"/>
            </a:xfrm>
            <a:prstGeom prst="rect">
              <a:avLst/>
            </a:prstGeom>
          </p:spPr>
        </p:pic>
        <p:sp>
          <p:nvSpPr>
            <p:cNvPr id="38" name="8acc4011-5c97-4bd7-81de-2fec7bf0a0b0"/>
            <p:cNvSpPr/>
            <p:nvPr/>
          </p:nvSpPr>
          <p:spPr>
            <a:xfrm>
              <a:off x="1390650" y="2286000"/>
              <a:ext cx="2057775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00000"/>
                  </a:solidFill>
                  <a:ea typeface="Lexend" pitchFamily="34" charset="-122"/>
                  <a:cs typeface="Lexend" pitchFamily="34" charset="-120"/>
                </a:rPr>
                <a:t>Project Overview</a:t>
              </a:r>
              <a:endParaRPr lang="en-US" sz="1800" dirty="0"/>
            </a:p>
          </p:txBody>
        </p:sp>
        <p:sp>
          <p:nvSpPr>
            <p:cNvPr id="39" name="5ce1ec87-6c0c-4be3-b744-13d0a02fe7ca"/>
            <p:cNvSpPr/>
            <p:nvPr/>
          </p:nvSpPr>
          <p:spPr>
            <a:xfrm>
              <a:off x="781050" y="2895600"/>
              <a:ext cx="391477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050" kern="0" spc="50" dirty="0">
                  <a:solidFill>
                    <a:srgbClr val="000000">
                      <a:alpha val="50000"/>
                    </a:srgbClr>
                  </a:solidFill>
                  <a:ea typeface="Lexend" pitchFamily="34" charset="-122"/>
                  <a:cs typeface="Lexend" pitchFamily="34" charset="-120"/>
                </a:rPr>
                <a:t>PROJECT NAME</a:t>
              </a:r>
              <a:endParaRPr lang="en-US" sz="1050" dirty="0"/>
            </a:p>
          </p:txBody>
        </p:sp>
        <p:sp>
          <p:nvSpPr>
            <p:cNvPr id="40" name="ba6672ce-3fac-4f3a-832c-8d810a4da0e1"/>
            <p:cNvSpPr/>
            <p:nvPr/>
          </p:nvSpPr>
          <p:spPr>
            <a:xfrm>
              <a:off x="781050" y="3114675"/>
              <a:ext cx="2987610" cy="2095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dirty="0">
                  <a:solidFill>
                    <a:srgbClr val="000000"/>
                  </a:solidFill>
                  <a:ea typeface="Lexend" pitchFamily="34" charset="-122"/>
                  <a:cs typeface="Lexend" pitchFamily="34" charset="-120"/>
                </a:rPr>
                <a:t>4-Bit RISC Pipelined Processor</a:t>
              </a:r>
              <a:endParaRPr lang="en-US" sz="1500" dirty="0"/>
            </a:p>
          </p:txBody>
        </p:sp>
        <p:sp>
          <p:nvSpPr>
            <p:cNvPr id="41" name="b01b4b5d-3f58-4520-98ef-a1322d22f790"/>
            <p:cNvSpPr/>
            <p:nvPr/>
          </p:nvSpPr>
          <p:spPr>
            <a:xfrm>
              <a:off x="781050" y="3505200"/>
              <a:ext cx="391477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050" kern="0" spc="50" dirty="0">
                  <a:solidFill>
                    <a:srgbClr val="000000">
                      <a:alpha val="50000"/>
                    </a:srgbClr>
                  </a:solidFill>
                  <a:ea typeface="Lexend" pitchFamily="34" charset="-122"/>
                  <a:cs typeface="Lexend" pitchFamily="34" charset="-120"/>
                </a:rPr>
                <a:t>STUDENT NAME</a:t>
              </a:r>
              <a:endParaRPr lang="en-US" sz="1050" dirty="0"/>
            </a:p>
          </p:txBody>
        </p:sp>
        <p:sp>
          <p:nvSpPr>
            <p:cNvPr id="42" name="94b9ee05-935e-4646-b25f-521d927681dc"/>
            <p:cNvSpPr/>
            <p:nvPr/>
          </p:nvSpPr>
          <p:spPr>
            <a:xfrm>
              <a:off x="781050" y="3724275"/>
              <a:ext cx="1277682" cy="2095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dirty="0">
                  <a:solidFill>
                    <a:srgbClr val="000000"/>
                  </a:solidFill>
                  <a:ea typeface="Lexend" pitchFamily="34" charset="-122"/>
                  <a:cs typeface="Lexend" pitchFamily="34" charset="-120"/>
                </a:rPr>
                <a:t>[HOÀNG NGỌC LONG]</a:t>
              </a:r>
              <a:endParaRPr lang="en-US" sz="1500" dirty="0"/>
            </a:p>
          </p:txBody>
        </p:sp>
        <p:sp>
          <p:nvSpPr>
            <p:cNvPr id="43" name="7a88053d-e336-4094-95ac-b6312a09f9e3"/>
            <p:cNvSpPr/>
            <p:nvPr/>
          </p:nvSpPr>
          <p:spPr>
            <a:xfrm>
              <a:off x="781050" y="4114800"/>
              <a:ext cx="391477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050" kern="0" spc="50" dirty="0">
                  <a:solidFill>
                    <a:srgbClr val="000000">
                      <a:alpha val="50000"/>
                    </a:srgbClr>
                  </a:solidFill>
                  <a:ea typeface="Lexend" pitchFamily="34" charset="-122"/>
                  <a:cs typeface="Lexend" pitchFamily="34" charset="-120"/>
                </a:rPr>
                <a:t>STUDENT ID</a:t>
              </a:r>
              <a:endParaRPr lang="en-US" sz="1050" dirty="0"/>
            </a:p>
          </p:txBody>
        </p:sp>
        <p:sp>
          <p:nvSpPr>
            <p:cNvPr id="44" name="2af4d072-97dd-4d1b-bfd5-1bac1dfc93c5"/>
            <p:cNvSpPr/>
            <p:nvPr/>
          </p:nvSpPr>
          <p:spPr>
            <a:xfrm>
              <a:off x="781050" y="4333875"/>
              <a:ext cx="1744979" cy="2095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dirty="0">
                  <a:solidFill>
                    <a:srgbClr val="000000"/>
                  </a:solidFill>
                  <a:ea typeface="Lexend" pitchFamily="34" charset="-122"/>
                  <a:cs typeface="Lexend" pitchFamily="34" charset="-120"/>
                </a:rPr>
                <a:t>[SE204586]</a:t>
              </a:r>
              <a:endParaRPr lang="en-US" sz="1500" dirty="0"/>
            </a:p>
          </p:txBody>
        </p:sp>
      </p:grpSp>
      <p:grpSp>
        <p:nvGrpSpPr>
          <p:cNvPr id="46" name="group-ZuXT2-WVbcvgaslO0q3HZ"/>
          <p:cNvGrpSpPr/>
          <p:nvPr/>
        </p:nvGrpSpPr>
        <p:grpSpPr>
          <a:xfrm>
            <a:off x="457200" y="5124450"/>
            <a:ext cx="4524375" cy="952500"/>
            <a:chOff x="457200" y="5124450"/>
            <a:chExt cx="4524375" cy="952500"/>
          </a:xfrm>
        </p:grpSpPr>
        <p:sp>
          <p:nvSpPr>
            <p:cNvPr id="6" name="22c0267f-0d16-471f-b4bc-ab5f4f718e42"/>
            <p:cNvSpPr/>
            <p:nvPr/>
          </p:nvSpPr>
          <p:spPr>
            <a:xfrm>
              <a:off x="457200" y="5124450"/>
              <a:ext cx="4524375" cy="952500"/>
            </a:xfrm>
            <a:prstGeom prst="roundRect">
              <a:avLst>
                <a:gd name="adj" fmla="val 16000"/>
              </a:avLst>
            </a:prstGeom>
            <a:solidFill>
              <a:srgbClr val="FFB093"/>
            </a:solidFill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" name="00239e76-2eb6-407b-8b34-5652f1eb1c81"/>
            <p:cNvSpPr/>
            <p:nvPr/>
          </p:nvSpPr>
          <p:spPr>
            <a:xfrm>
              <a:off x="685800" y="5353050"/>
              <a:ext cx="4105275" cy="1905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10" dirty="0">
                  <a:solidFill>
                    <a:srgbClr val="000000"/>
                  </a:solidFill>
                  <a:ea typeface="Lexend" pitchFamily="34" charset="-122"/>
                  <a:cs typeface="Lexend" pitchFamily="34" charset="-120"/>
                </a:rPr>
                <a:t>STATUS</a:t>
              </a:r>
              <a:endParaRPr lang="en-US" sz="1050" dirty="0"/>
            </a:p>
          </p:txBody>
        </p:sp>
        <p:sp>
          <p:nvSpPr>
            <p:cNvPr id="9" name="51f65889-711a-4ba0-a232-29c085274f09"/>
            <p:cNvSpPr/>
            <p:nvPr/>
          </p:nvSpPr>
          <p:spPr>
            <a:xfrm>
              <a:off x="685800" y="5581650"/>
              <a:ext cx="4105275" cy="266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000000"/>
                  </a:solidFill>
                  <a:ea typeface="Lexend" pitchFamily="34" charset="-122"/>
                  <a:cs typeface="Lexend" pitchFamily="34" charset="-120"/>
                </a:rPr>
                <a:t>Design &amp; Simulation Phase Complete</a:t>
              </a:r>
              <a:endParaRPr lang="en-US" sz="1350" dirty="0"/>
            </a:p>
          </p:txBody>
        </p:sp>
      </p:grpSp>
      <p:grpSp>
        <p:nvGrpSpPr>
          <p:cNvPr id="47" name="group-cJhA-dWDbS4ZwE4qVgPgg"/>
          <p:cNvGrpSpPr/>
          <p:nvPr/>
        </p:nvGrpSpPr>
        <p:grpSpPr>
          <a:xfrm>
            <a:off x="5286375" y="1562100"/>
            <a:ext cx="6457950" cy="4838700"/>
            <a:chOff x="5286375" y="1562100"/>
            <a:chExt cx="6457950" cy="4838700"/>
          </a:xfrm>
        </p:grpSpPr>
        <p:sp>
          <p:nvSpPr>
            <p:cNvPr id="7" name="slide-085768df-e795-4956-8543-e11ac8470514-0::roadmap-container"/>
            <p:cNvSpPr/>
            <p:nvPr/>
          </p:nvSpPr>
          <p:spPr>
            <a:xfrm>
              <a:off x="5286375" y="1562100"/>
              <a:ext cx="6457950" cy="4838700"/>
            </a:xfrm>
            <a:prstGeom prst="roundRect">
              <a:avLst>
                <a:gd name="adj" fmla="val 3150"/>
              </a:avLst>
            </a:prstGeom>
            <a:solidFill>
              <a:srgbClr val="F3F3F3"/>
            </a:solidFill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pic>
          <p:nvPicPr>
            <p:cNvPr id="10" name="1b4d44bf-6113-4764-94a0-aa8acbad3efc" descr="1b4d44bf-6113-4764-94a0-aa8acbad3efc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591175" y="1885950"/>
              <a:ext cx="228600" cy="228600"/>
            </a:xfrm>
            <a:prstGeom prst="rect">
              <a:avLst/>
            </a:prstGeom>
          </p:spPr>
        </p:pic>
        <p:sp>
          <p:nvSpPr>
            <p:cNvPr id="11" name="84b9c0b6-b5d1-4d86-ba97-fc790a7d50d4"/>
            <p:cNvSpPr/>
            <p:nvPr/>
          </p:nvSpPr>
          <p:spPr>
            <a:xfrm>
              <a:off x="5895975" y="1895475"/>
              <a:ext cx="2438400" cy="2095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000000"/>
                  </a:solidFill>
                  <a:ea typeface="Lexend" pitchFamily="34" charset="-122"/>
                  <a:cs typeface="Lexend" pitchFamily="34" charset="-120"/>
                </a:rPr>
                <a:t>Presentation Roadmap</a:t>
              </a:r>
              <a:endParaRPr lang="en-US" sz="1500" dirty="0"/>
            </a:p>
          </p:txBody>
        </p:sp>
      </p:grpSp>
      <p:sp>
        <p:nvSpPr>
          <p:cNvPr id="12" name="Shape 8"/>
          <p:cNvSpPr/>
          <p:nvPr/>
        </p:nvSpPr>
        <p:spPr>
          <a:xfrm>
            <a:off x="5862297" y="2362200"/>
            <a:ext cx="0" cy="3619500"/>
          </a:xfrm>
          <a:prstGeom prst="line">
            <a:avLst/>
          </a:prstGeom>
          <a:noFill/>
          <a:ln w="19050">
            <a:solidFill>
              <a:srgbClr val="858E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862297" y="2743200"/>
            <a:ext cx="347322" cy="0"/>
          </a:xfrm>
          <a:prstGeom prst="line">
            <a:avLst/>
          </a:prstGeom>
          <a:noFill/>
          <a:ln w="19050">
            <a:solidFill>
              <a:srgbClr val="858E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667375" y="2548278"/>
            <a:ext cx="389845" cy="389845"/>
          </a:xfrm>
          <a:prstGeom prst="ellipse">
            <a:avLst/>
          </a:prstGeom>
          <a:solidFill>
            <a:srgbClr val="FAFAFA"/>
          </a:solidFill>
          <a:ln w="12700">
            <a:solidFill>
              <a:srgbClr val="FAFA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724525" y="2605428"/>
            <a:ext cx="275545" cy="275545"/>
          </a:xfrm>
          <a:prstGeom prst="ellipse">
            <a:avLst/>
          </a:prstGeom>
          <a:solidFill>
            <a:srgbClr val="858E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209620" y="2311622"/>
            <a:ext cx="5153705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20202"/>
                </a:solidFill>
                <a:ea typeface="Instrument Sans" pitchFamily="34" charset="-122"/>
                <a:cs typeface="Instrument Sans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209620" y="2641187"/>
            <a:ext cx="5153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E4E4E"/>
                </a:solidFill>
                <a:ea typeface="Inter" pitchFamily="34" charset="-122"/>
                <a:cs typeface="Inter" pitchFamily="34" charset="-120"/>
              </a:rPr>
              <a:t>Block diagram &amp; datapath flow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209620" y="2984087"/>
            <a:ext cx="5153705" cy="19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502"/>
              </a:lnSpc>
              <a:buNone/>
            </a:pPr>
            <a:r>
              <a:rPr lang="en-US" sz="1050" dirty="0">
                <a:solidFill>
                  <a:srgbClr val="129ADB">
                    <a:alpha val="70000"/>
                  </a:srgbClr>
                </a:solidFill>
                <a:ea typeface="Inter" pitchFamily="34" charset="-122"/>
                <a:cs typeface="Inter" pitchFamily="34" charset="-120"/>
              </a:rPr>
              <a:t>Slide 2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862297" y="3695700"/>
            <a:ext cx="347322" cy="0"/>
          </a:xfrm>
          <a:prstGeom prst="line">
            <a:avLst/>
          </a:prstGeom>
          <a:noFill/>
          <a:ln w="19050">
            <a:solidFill>
              <a:srgbClr val="858E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667375" y="3500778"/>
            <a:ext cx="389845" cy="389845"/>
          </a:xfrm>
          <a:prstGeom prst="ellipse">
            <a:avLst/>
          </a:prstGeom>
          <a:solidFill>
            <a:srgbClr val="FAFAFA"/>
          </a:solidFill>
          <a:ln w="12700">
            <a:solidFill>
              <a:srgbClr val="FAFA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724525" y="3557928"/>
            <a:ext cx="275545" cy="275545"/>
          </a:xfrm>
          <a:prstGeom prst="ellipse">
            <a:avLst/>
          </a:prstGeom>
          <a:solidFill>
            <a:srgbClr val="858E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209620" y="3264122"/>
            <a:ext cx="5153705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20202"/>
                </a:solidFill>
                <a:ea typeface="Instrument Sans" pitchFamily="34" charset="-122"/>
                <a:cs typeface="Instrument Sans" pitchFamily="34" charset="-120"/>
              </a:rPr>
              <a:t>Modules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209620" y="3593687"/>
            <a:ext cx="5153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E4E4E"/>
                </a:solidFill>
                <a:ea typeface="Inter" pitchFamily="34" charset="-122"/>
                <a:cs typeface="Inter" pitchFamily="34" charset="-120"/>
              </a:rPr>
              <a:t>Verilog implementation (PC to ALU)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209620" y="3936587"/>
            <a:ext cx="5153705" cy="19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502"/>
              </a:lnSpc>
              <a:buNone/>
            </a:pPr>
            <a:r>
              <a:rPr lang="en-US" sz="1050" dirty="0">
                <a:solidFill>
                  <a:srgbClr val="129ADB">
                    <a:alpha val="70000"/>
                  </a:srgbClr>
                </a:solidFill>
                <a:ea typeface="Inter" pitchFamily="34" charset="-122"/>
                <a:cs typeface="Inter" pitchFamily="34" charset="-120"/>
              </a:rPr>
              <a:t>Slides 3-8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862297" y="4648200"/>
            <a:ext cx="347322" cy="0"/>
          </a:xfrm>
          <a:prstGeom prst="line">
            <a:avLst/>
          </a:prstGeom>
          <a:noFill/>
          <a:ln w="19050">
            <a:solidFill>
              <a:srgbClr val="858E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667375" y="4453278"/>
            <a:ext cx="389845" cy="389845"/>
          </a:xfrm>
          <a:prstGeom prst="ellipse">
            <a:avLst/>
          </a:prstGeom>
          <a:solidFill>
            <a:srgbClr val="FAFAFA"/>
          </a:solidFill>
          <a:ln w="12700">
            <a:solidFill>
              <a:srgbClr val="FAFA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724525" y="4510428"/>
            <a:ext cx="275545" cy="275545"/>
          </a:xfrm>
          <a:prstGeom prst="ellipse">
            <a:avLst/>
          </a:prstGeom>
          <a:solidFill>
            <a:srgbClr val="858E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209620" y="4216622"/>
            <a:ext cx="5153705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20202"/>
                </a:solidFill>
                <a:ea typeface="Instrument Sans" pitchFamily="34" charset="-122"/>
                <a:cs typeface="Instrument Sans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6209620" y="4546187"/>
            <a:ext cx="5153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E4E4E"/>
                </a:solidFill>
                <a:ea typeface="Inter" pitchFamily="34" charset="-122"/>
                <a:cs typeface="Inter" pitchFamily="34" charset="-120"/>
              </a:rPr>
              <a:t>Testbench &amp; simulation strategy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6209620" y="4889087"/>
            <a:ext cx="5153705" cy="19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502"/>
              </a:lnSpc>
              <a:buNone/>
            </a:pPr>
            <a:r>
              <a:rPr lang="en-US" sz="1050" dirty="0">
                <a:solidFill>
                  <a:srgbClr val="129ADB">
                    <a:alpha val="70000"/>
                  </a:srgbClr>
                </a:solidFill>
                <a:ea typeface="Inter" pitchFamily="34" charset="-122"/>
                <a:cs typeface="Inter" pitchFamily="34" charset="-120"/>
              </a:rPr>
              <a:t>Slide 9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862297" y="5600700"/>
            <a:ext cx="347322" cy="0"/>
          </a:xfrm>
          <a:prstGeom prst="line">
            <a:avLst/>
          </a:prstGeom>
          <a:noFill/>
          <a:ln w="19050">
            <a:solidFill>
              <a:srgbClr val="858E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5667375" y="5405778"/>
            <a:ext cx="389845" cy="389845"/>
          </a:xfrm>
          <a:prstGeom prst="ellipse">
            <a:avLst/>
          </a:prstGeom>
          <a:solidFill>
            <a:srgbClr val="FAFAFA"/>
          </a:solidFill>
          <a:ln w="12700">
            <a:solidFill>
              <a:srgbClr val="FAFA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5724525" y="5462928"/>
            <a:ext cx="275545" cy="275545"/>
          </a:xfrm>
          <a:prstGeom prst="ellipse">
            <a:avLst/>
          </a:prstGeom>
          <a:solidFill>
            <a:srgbClr val="858E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6209620" y="5169122"/>
            <a:ext cx="5153705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20202"/>
                </a:solidFill>
                <a:ea typeface="Instrument Sans" pitchFamily="34" charset="-122"/>
                <a:cs typeface="Instrument Sans" pitchFamily="34" charset="-120"/>
              </a:rPr>
              <a:t>Results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6209620" y="5498687"/>
            <a:ext cx="5153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E4E4E"/>
                </a:solidFill>
                <a:ea typeface="Inter" pitchFamily="34" charset="-122"/>
                <a:cs typeface="Inter" pitchFamily="34" charset="-120"/>
              </a:rPr>
              <a:t>Cycle-by-cycle truth table analysis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6209620" y="5841587"/>
            <a:ext cx="5153705" cy="19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502"/>
              </a:lnSpc>
              <a:buNone/>
            </a:pPr>
            <a:r>
              <a:rPr lang="en-US" sz="1050" dirty="0">
                <a:solidFill>
                  <a:srgbClr val="129ADB">
                    <a:alpha val="70000"/>
                  </a:srgbClr>
                </a:solidFill>
                <a:ea typeface="Inter" pitchFamily="34" charset="-122"/>
                <a:cs typeface="Inter" pitchFamily="34" charset="-120"/>
              </a:rPr>
              <a:t>Slide 10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608472998"/>
      </p:ext>
    </p:extLst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-085768df-e795-4956-8543-e11ac8470514-0::bg-accent" descr="preencoded.png">
            <a:extLst>
              <a:ext uri="{FF2B5EF4-FFF2-40B4-BE49-F238E27FC236}">
                <a16:creationId xmlns:a16="http://schemas.microsoft.com/office/drawing/2014/main" id="{E41D7B09-9F3A-6167-40B4-9AFE166F1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286000"/>
            <a:ext cx="7315200" cy="7315200"/>
          </a:xfrm>
          <a:prstGeom prst="rect">
            <a:avLst/>
          </a:prstGeom>
        </p:spPr>
      </p:pic>
      <p:grpSp>
        <p:nvGrpSpPr>
          <p:cNvPr id="11" name="group-E-gLFp3oHD6Qdh60jiAjS"/>
          <p:cNvGrpSpPr/>
          <p:nvPr/>
        </p:nvGrpSpPr>
        <p:grpSpPr>
          <a:xfrm>
            <a:off x="457200" y="6074568"/>
            <a:ext cx="11277600" cy="552450"/>
            <a:chOff x="457200" y="5848350"/>
            <a:chExt cx="11277600" cy="552450"/>
          </a:xfrm>
        </p:grpSpPr>
        <p:sp>
          <p:nvSpPr>
            <p:cNvPr id="2" name="770c8ecb-d4b7-4de5-9bb0-879d04ca3ac4"/>
            <p:cNvSpPr/>
            <p:nvPr/>
          </p:nvSpPr>
          <p:spPr>
            <a:xfrm>
              <a:off x="457200" y="5848350"/>
              <a:ext cx="11277600" cy="552450"/>
            </a:xfrm>
            <a:prstGeom prst="roundRect">
              <a:avLst>
                <a:gd name="adj" fmla="val 20690"/>
              </a:avLst>
            </a:prstGeom>
            <a:solidFill>
              <a:srgbClr val="F3F3F3"/>
            </a:solidFill>
            <a:ln w="9525">
              <a:solidFill>
                <a:srgbClr val="E5E5E5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>
                <a:latin typeface="+mj-lt"/>
              </a:endParaRPr>
            </a:p>
          </p:txBody>
        </p:sp>
        <p:sp>
          <p:nvSpPr>
            <p:cNvPr id="7" name="eb163bd4-4e48-417a-a3e1-7bc54201b491"/>
            <p:cNvSpPr/>
            <p:nvPr/>
          </p:nvSpPr>
          <p:spPr>
            <a:xfrm>
              <a:off x="695325" y="6076950"/>
              <a:ext cx="95250" cy="95250"/>
            </a:xfrm>
            <a:prstGeom prst="ellipse">
              <a:avLst/>
            </a:prstGeom>
            <a:solidFill>
              <a:srgbClr val="858EFF"/>
            </a:solidFill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>
                <a:latin typeface="+mj-lt"/>
              </a:endParaRPr>
            </a:p>
          </p:txBody>
        </p:sp>
        <p:sp>
          <p:nvSpPr>
            <p:cNvPr id="8" name="154671fe-af22-4d51-bfee-122f9f8e819a"/>
            <p:cNvSpPr/>
            <p:nvPr/>
          </p:nvSpPr>
          <p:spPr>
            <a:xfrm>
              <a:off x="904875" y="6010275"/>
              <a:ext cx="7281382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00000"/>
                  </a:solidFill>
                  <a:latin typeface="+mj-lt"/>
                  <a:ea typeface="Lexend" pitchFamily="34" charset="-122"/>
                  <a:cs typeface="Lexend" pitchFamily="34" charset="-120"/>
                </a:rPr>
                <a:t>Synchronized </a:t>
              </a:r>
              <a:r>
                <a:rPr lang="en-US" sz="1200" b="1" dirty="0">
                  <a:solidFill>
                    <a:srgbClr val="000000"/>
                  </a:solidFill>
                  <a:latin typeface="+mj-lt"/>
                  <a:ea typeface="Lexend" pitchFamily="34" charset="-122"/>
                  <a:cs typeface="Lexend" pitchFamily="34" charset="-120"/>
                </a:rPr>
                <a:t>clocking</a:t>
              </a:r>
              <a:r>
                <a:rPr lang="en-US" sz="1200" dirty="0">
                  <a:solidFill>
                    <a:srgbClr val="000000"/>
                  </a:solidFill>
                  <a:latin typeface="+mj-lt"/>
                  <a:ea typeface="Lexend" pitchFamily="34" charset="-122"/>
                  <a:cs typeface="Lexend" pitchFamily="34" charset="-120"/>
                </a:rPr>
                <a:t> coordinates execution across unified memory, control, and datapath units.</a:t>
              </a:r>
              <a:endParaRPr lang="en-US" sz="1200" dirty="0">
                <a:latin typeface="+mj-lt"/>
              </a:endParaRPr>
            </a:p>
          </p:txBody>
        </p:sp>
      </p:grpSp>
      <p:grpSp>
        <p:nvGrpSpPr>
          <p:cNvPr id="10" name="group-uhYvmhpGx-4FOjsKamMC8"/>
          <p:cNvGrpSpPr/>
          <p:nvPr/>
        </p:nvGrpSpPr>
        <p:grpSpPr>
          <a:xfrm>
            <a:off x="457200" y="457200"/>
            <a:ext cx="1743075" cy="247650"/>
            <a:chOff x="457200" y="457200"/>
            <a:chExt cx="1743075" cy="247650"/>
          </a:xfrm>
        </p:grpSpPr>
        <p:sp>
          <p:nvSpPr>
            <p:cNvPr id="3" name="fb95a646-8f1f-4790-b0bf-667fdfd0b022"/>
            <p:cNvSpPr/>
            <p:nvPr/>
          </p:nvSpPr>
          <p:spPr>
            <a:xfrm>
              <a:off x="457200" y="457200"/>
              <a:ext cx="1743075" cy="247650"/>
            </a:xfrm>
            <a:prstGeom prst="roundRect">
              <a:avLst>
                <a:gd name="adj" fmla="val 50000"/>
              </a:avLst>
            </a:prstGeom>
            <a:solidFill>
              <a:srgbClr val="EDEEFF"/>
            </a:solidFill>
            <a:ln w="9525">
              <a:solidFill>
                <a:srgbClr val="DADDFF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>
                <a:latin typeface="+mj-lt"/>
              </a:endParaRPr>
            </a:p>
          </p:txBody>
        </p:sp>
        <p:sp>
          <p:nvSpPr>
            <p:cNvPr id="9" name="3696cdc4-ad73-441c-8246-181bd909ffb9"/>
            <p:cNvSpPr/>
            <p:nvPr/>
          </p:nvSpPr>
          <p:spPr>
            <a:xfrm>
              <a:off x="581025" y="504825"/>
              <a:ext cx="158424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50" dirty="0">
                  <a:solidFill>
                    <a:srgbClr val="000000"/>
                  </a:solidFill>
                  <a:latin typeface="+mj-lt"/>
                  <a:ea typeface="Lexend" pitchFamily="34" charset="-122"/>
                  <a:cs typeface="Lexend" pitchFamily="34" charset="-120"/>
                </a:rPr>
                <a:t>DATAPATH PIPELINING</a:t>
              </a:r>
              <a:endParaRPr lang="en-US" sz="900" dirty="0">
                <a:latin typeface="+mj-lt"/>
              </a:endParaRPr>
            </a:p>
          </p:txBody>
        </p:sp>
      </p:grpSp>
      <p:sp>
        <p:nvSpPr>
          <p:cNvPr id="4" name="b4dce8c6-2189-4c26-bb90-095c5df375e6"/>
          <p:cNvSpPr/>
          <p:nvPr/>
        </p:nvSpPr>
        <p:spPr>
          <a:xfrm>
            <a:off x="457200" y="742950"/>
            <a:ext cx="11315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kern="0" spc="-70" dirty="0">
                <a:solidFill>
                  <a:srgbClr val="000000"/>
                </a:solidFill>
                <a:latin typeface="+mj-lt"/>
                <a:ea typeface="Lexend" pitchFamily="34" charset="-122"/>
                <a:cs typeface="Lexend" pitchFamily="34" charset="-120"/>
              </a:rPr>
              <a:t>Overall System Architecture and Mechanism</a:t>
            </a:r>
            <a:endParaRPr lang="en-US" sz="2700" dirty="0">
              <a:latin typeface="+mj-lt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6B9349B-E336-ED27-20B4-5E5ED49ADFE6}"/>
              </a:ext>
            </a:extLst>
          </p:cNvPr>
          <p:cNvGrpSpPr/>
          <p:nvPr/>
        </p:nvGrpSpPr>
        <p:grpSpPr>
          <a:xfrm>
            <a:off x="1593076" y="1224348"/>
            <a:ext cx="9024898" cy="4604804"/>
            <a:chOff x="1373148" y="1285875"/>
            <a:chExt cx="8507909" cy="434101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74F4234-DAC2-D57E-2D1F-F0EA74A04D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9" t="1246" r="1051"/>
            <a:stretch>
              <a:fillRect/>
            </a:stretch>
          </p:blipFill>
          <p:spPr>
            <a:xfrm>
              <a:off x="1391107" y="1285875"/>
              <a:ext cx="8489950" cy="4341019"/>
            </a:xfrm>
            <a:prstGeom prst="flowChartAlternateProcess">
              <a:avLst/>
            </a:prstGeom>
          </p:spPr>
        </p:pic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83D6F6E-9327-DAB1-FE1D-4A0B6353F0E5}"/>
                </a:ext>
              </a:extLst>
            </p:cNvPr>
            <p:cNvSpPr/>
            <p:nvPr/>
          </p:nvSpPr>
          <p:spPr>
            <a:xfrm>
              <a:off x="1373148" y="1285875"/>
              <a:ext cx="8489950" cy="434101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4439677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 tmFilter="0,0; 0.25,0.578; 0.5,0.875; 0.75,0.984; 1,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 tmFilter="0,0; 0.25,0.578; 0.5,0.875; 0.75,0.984; 1,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 tmFilter="0,0; 0.25,0.578; 0.5,0.875; 0.75,0.984; 1,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 tmFilter="0,0; 0.25,0.578; 0.5,0.875; 0.75,0.984; 1,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78DB3-5B35-BF0C-612E-06102AE7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-085768df-e795-4956-8543-e11ac8470514-0::bg-accent" descr="preencoded.png">
            <a:extLst>
              <a:ext uri="{FF2B5EF4-FFF2-40B4-BE49-F238E27FC236}">
                <a16:creationId xmlns:a16="http://schemas.microsoft.com/office/drawing/2014/main" id="{7960B74F-D554-DE6D-06AE-06B64FB02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286000"/>
            <a:ext cx="7315200" cy="7315200"/>
          </a:xfrm>
          <a:prstGeom prst="rect">
            <a:avLst/>
          </a:prstGeom>
        </p:spPr>
      </p:pic>
      <p:grpSp>
        <p:nvGrpSpPr>
          <p:cNvPr id="11" name="group-E-gLFp3oHD6Qdh60jiAjS">
            <a:extLst>
              <a:ext uri="{FF2B5EF4-FFF2-40B4-BE49-F238E27FC236}">
                <a16:creationId xmlns:a16="http://schemas.microsoft.com/office/drawing/2014/main" id="{550FF180-0C3E-E6D4-2970-8F578DF55691}"/>
              </a:ext>
            </a:extLst>
          </p:cNvPr>
          <p:cNvGrpSpPr/>
          <p:nvPr/>
        </p:nvGrpSpPr>
        <p:grpSpPr>
          <a:xfrm>
            <a:off x="457200" y="6074568"/>
            <a:ext cx="11277600" cy="552450"/>
            <a:chOff x="457200" y="5848350"/>
            <a:chExt cx="11277600" cy="552450"/>
          </a:xfrm>
        </p:grpSpPr>
        <p:sp>
          <p:nvSpPr>
            <p:cNvPr id="2" name="770c8ecb-d4b7-4de5-9bb0-879d04ca3ac4">
              <a:extLst>
                <a:ext uri="{FF2B5EF4-FFF2-40B4-BE49-F238E27FC236}">
                  <a16:creationId xmlns:a16="http://schemas.microsoft.com/office/drawing/2014/main" id="{8BAD5E14-24B3-C969-5836-40924DE755D9}"/>
                </a:ext>
              </a:extLst>
            </p:cNvPr>
            <p:cNvSpPr/>
            <p:nvPr/>
          </p:nvSpPr>
          <p:spPr>
            <a:xfrm>
              <a:off x="457200" y="5848350"/>
              <a:ext cx="11277600" cy="552450"/>
            </a:xfrm>
            <a:prstGeom prst="roundRect">
              <a:avLst>
                <a:gd name="adj" fmla="val 20690"/>
              </a:avLst>
            </a:prstGeom>
            <a:solidFill>
              <a:srgbClr val="F3F3F3"/>
            </a:solidFill>
            <a:ln w="9525">
              <a:solidFill>
                <a:srgbClr val="E5E5E5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" name="eb163bd4-4e48-417a-a3e1-7bc54201b491">
              <a:extLst>
                <a:ext uri="{FF2B5EF4-FFF2-40B4-BE49-F238E27FC236}">
                  <a16:creationId xmlns:a16="http://schemas.microsoft.com/office/drawing/2014/main" id="{2FE0B47D-7B43-D6C4-A5F7-0083BAD0B704}"/>
                </a:ext>
              </a:extLst>
            </p:cNvPr>
            <p:cNvSpPr/>
            <p:nvPr/>
          </p:nvSpPr>
          <p:spPr>
            <a:xfrm>
              <a:off x="695325" y="6076950"/>
              <a:ext cx="95250" cy="95250"/>
            </a:xfrm>
            <a:prstGeom prst="ellipse">
              <a:avLst/>
            </a:prstGeom>
            <a:solidFill>
              <a:srgbClr val="858EFF"/>
            </a:solidFill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" name="154671fe-af22-4d51-bfee-122f9f8e819a">
              <a:extLst>
                <a:ext uri="{FF2B5EF4-FFF2-40B4-BE49-F238E27FC236}">
                  <a16:creationId xmlns:a16="http://schemas.microsoft.com/office/drawing/2014/main" id="{29D99D91-3A39-D554-D6C2-DBA72F198012}"/>
                </a:ext>
              </a:extLst>
            </p:cNvPr>
            <p:cNvSpPr/>
            <p:nvPr/>
          </p:nvSpPr>
          <p:spPr>
            <a:xfrm>
              <a:off x="904875" y="6010275"/>
              <a:ext cx="7281382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Synchronized </a:t>
              </a:r>
              <a:r>
                <a:rPr lang="en-US" sz="1200" b="1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clocking</a:t>
              </a:r>
              <a:r>
                <a:rPr lang="en-US" sz="1200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 coordinates execution across unified memory, control, and datapath units.</a:t>
              </a:r>
              <a:endParaRPr lang="en-US" sz="1200" dirty="0"/>
            </a:p>
          </p:txBody>
        </p:sp>
      </p:grpSp>
      <p:grpSp>
        <p:nvGrpSpPr>
          <p:cNvPr id="10" name="group-uhYvmhpGx-4FOjsKamMC8">
            <a:extLst>
              <a:ext uri="{FF2B5EF4-FFF2-40B4-BE49-F238E27FC236}">
                <a16:creationId xmlns:a16="http://schemas.microsoft.com/office/drawing/2014/main" id="{57F2E618-1472-5F64-61AD-FE7F63F2EEBA}"/>
              </a:ext>
            </a:extLst>
          </p:cNvPr>
          <p:cNvGrpSpPr/>
          <p:nvPr/>
        </p:nvGrpSpPr>
        <p:grpSpPr>
          <a:xfrm>
            <a:off x="457200" y="457200"/>
            <a:ext cx="1743075" cy="247650"/>
            <a:chOff x="457200" y="457200"/>
            <a:chExt cx="1743075" cy="247650"/>
          </a:xfrm>
        </p:grpSpPr>
        <p:sp>
          <p:nvSpPr>
            <p:cNvPr id="3" name="fb95a646-8f1f-4790-b0bf-667fdfd0b022">
              <a:extLst>
                <a:ext uri="{FF2B5EF4-FFF2-40B4-BE49-F238E27FC236}">
                  <a16:creationId xmlns:a16="http://schemas.microsoft.com/office/drawing/2014/main" id="{657C8197-2FB7-85FA-46D7-74BC609F983D}"/>
                </a:ext>
              </a:extLst>
            </p:cNvPr>
            <p:cNvSpPr/>
            <p:nvPr/>
          </p:nvSpPr>
          <p:spPr>
            <a:xfrm>
              <a:off x="457200" y="457200"/>
              <a:ext cx="1743075" cy="247650"/>
            </a:xfrm>
            <a:prstGeom prst="roundRect">
              <a:avLst>
                <a:gd name="adj" fmla="val 50000"/>
              </a:avLst>
            </a:prstGeom>
            <a:solidFill>
              <a:srgbClr val="EDEEFF"/>
            </a:solidFill>
            <a:ln w="9525">
              <a:solidFill>
                <a:srgbClr val="DADDFF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" name="3696cdc4-ad73-441c-8246-181bd909ffb9">
              <a:extLst>
                <a:ext uri="{FF2B5EF4-FFF2-40B4-BE49-F238E27FC236}">
                  <a16:creationId xmlns:a16="http://schemas.microsoft.com/office/drawing/2014/main" id="{CC60283F-509E-0FFF-61CE-229CA864CEFD}"/>
                </a:ext>
              </a:extLst>
            </p:cNvPr>
            <p:cNvSpPr/>
            <p:nvPr/>
          </p:nvSpPr>
          <p:spPr>
            <a:xfrm>
              <a:off x="581025" y="504825"/>
              <a:ext cx="1584246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50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DATAPATH PIPELINING</a:t>
              </a:r>
              <a:endParaRPr lang="en-US" sz="900" dirty="0"/>
            </a:p>
          </p:txBody>
        </p:sp>
      </p:grpSp>
      <p:sp>
        <p:nvSpPr>
          <p:cNvPr id="4" name="b4dce8c6-2189-4c26-bb90-095c5df375e6">
            <a:extLst>
              <a:ext uri="{FF2B5EF4-FFF2-40B4-BE49-F238E27FC236}">
                <a16:creationId xmlns:a16="http://schemas.microsoft.com/office/drawing/2014/main" id="{7AFD414B-BCE0-9878-27F8-4DC2E668F9AA}"/>
              </a:ext>
            </a:extLst>
          </p:cNvPr>
          <p:cNvSpPr/>
          <p:nvPr/>
        </p:nvSpPr>
        <p:spPr>
          <a:xfrm>
            <a:off x="457200" y="742950"/>
            <a:ext cx="11315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kern="0" spc="-7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Overall System Architecture and Mechanism</a:t>
            </a:r>
            <a:endParaRPr lang="en-US" sz="27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DEE0BC5-7835-4B4E-C885-BDCCE544C87C}"/>
              </a:ext>
            </a:extLst>
          </p:cNvPr>
          <p:cNvGrpSpPr/>
          <p:nvPr/>
        </p:nvGrpSpPr>
        <p:grpSpPr>
          <a:xfrm>
            <a:off x="222250" y="1325709"/>
            <a:ext cx="11747500" cy="1920581"/>
            <a:chOff x="234950" y="2857500"/>
            <a:chExt cx="11747500" cy="192058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4C48B53-7453-7E03-29C3-DA672ACCE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4950" y="2920467"/>
              <a:ext cx="11734800" cy="1857614"/>
            </a:xfrm>
            <a:prstGeom prst="rect">
              <a:avLst/>
            </a:prstGeom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3FDF738-9738-6768-DA91-4920C29DC965}"/>
                </a:ext>
              </a:extLst>
            </p:cNvPr>
            <p:cNvSpPr/>
            <p:nvPr/>
          </p:nvSpPr>
          <p:spPr>
            <a:xfrm>
              <a:off x="247650" y="2857500"/>
              <a:ext cx="11734800" cy="1920581"/>
            </a:xfrm>
            <a:prstGeom prst="roundRect">
              <a:avLst>
                <a:gd name="adj" fmla="val 10748"/>
              </a:avLst>
            </a:prstGeom>
            <a:noFill/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1D0D8EE-0925-51F3-162B-66D9CBE03D80}"/>
              </a:ext>
            </a:extLst>
          </p:cNvPr>
          <p:cNvGrpSpPr/>
          <p:nvPr/>
        </p:nvGrpSpPr>
        <p:grpSpPr>
          <a:xfrm>
            <a:off x="241300" y="3408215"/>
            <a:ext cx="11734800" cy="1920581"/>
            <a:chOff x="247650" y="2857500"/>
            <a:chExt cx="11734800" cy="192058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C319F70-790F-0262-2826-B585C3E12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0104" t="3373" r="-11887" b="2816"/>
            <a:stretch>
              <a:fillRect/>
            </a:stretch>
          </p:blipFill>
          <p:spPr>
            <a:xfrm>
              <a:off x="304800" y="2924175"/>
              <a:ext cx="11652250" cy="1853906"/>
            </a:xfrm>
            <a:prstGeom prst="rect">
              <a:avLst/>
            </a:prstGeom>
          </p:spPr>
        </p:pic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7E50E9C-D35B-3CA4-5E1F-D3D2732ADB1A}"/>
                </a:ext>
              </a:extLst>
            </p:cNvPr>
            <p:cNvSpPr/>
            <p:nvPr/>
          </p:nvSpPr>
          <p:spPr>
            <a:xfrm>
              <a:off x="247650" y="2857500"/>
              <a:ext cx="11734800" cy="1920581"/>
            </a:xfrm>
            <a:prstGeom prst="roundRect">
              <a:avLst>
                <a:gd name="adj" fmla="val 10748"/>
              </a:avLst>
            </a:prstGeom>
            <a:noFill/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8E510D3-4B3E-89BE-55C8-E4D9C0EBF23C}"/>
              </a:ext>
            </a:extLst>
          </p:cNvPr>
          <p:cNvSpPr txBox="1"/>
          <p:nvPr/>
        </p:nvSpPr>
        <p:spPr>
          <a:xfrm>
            <a:off x="581025" y="2739917"/>
            <a:ext cx="3597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 cells    2 I/O ports     98 nets</a:t>
            </a:r>
          </a:p>
        </p:txBody>
      </p:sp>
    </p:spTree>
    <p:extLst>
      <p:ext uri="{BB962C8B-B14F-4D97-AF65-F5344CB8AC3E}">
        <p14:creationId xmlns:p14="http://schemas.microsoft.com/office/powerpoint/2010/main" val="2090071793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 tmFilter="0,0; 0.25,0.578; 0.5,0.875; 0.75,0.984; 1,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 tmFilter="0,0; 0.25,0.578; 0.5,0.875; 0.75,0.984; 1,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 tmFilter="0,0; 0.25,0.578; 0.5,0.875; 0.75,0.984; 1,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 tmFilter="0,0; 0.25,0.578; 0.5,0.875; 0.75,0.984; 1,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29E7A-D222-255C-791D-F362F83C4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slide-085768df-e795-4956-8543-e11ac8470514-0::bg-accent" descr="preencoded.png">
            <a:extLst>
              <a:ext uri="{FF2B5EF4-FFF2-40B4-BE49-F238E27FC236}">
                <a16:creationId xmlns:a16="http://schemas.microsoft.com/office/drawing/2014/main" id="{8FFA400F-FDC7-9D62-5D6D-BC8FCEDFF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286000"/>
            <a:ext cx="7315200" cy="73152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918031A-23CA-723A-5F32-6FC904424A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5" b="4225"/>
          <a:stretch/>
        </p:blipFill>
        <p:spPr>
          <a:xfrm>
            <a:off x="460158" y="1962151"/>
            <a:ext cx="11312742" cy="4076700"/>
          </a:xfrm>
          <a:prstGeom prst="rect">
            <a:avLst/>
          </a:prstGeom>
        </p:spPr>
      </p:pic>
      <p:sp>
        <p:nvSpPr>
          <p:cNvPr id="6" name="boxes-marker-da235962-e192-4b10-bdd6-c2601501326c">
            <a:extLst>
              <a:ext uri="{FF2B5EF4-FFF2-40B4-BE49-F238E27FC236}">
                <a16:creationId xmlns:a16="http://schemas.microsoft.com/office/drawing/2014/main" id="{F3A40999-59B0-C649-F07B-9CBFD25B5DDB}"/>
              </a:ext>
            </a:extLst>
          </p:cNvPr>
          <p:cNvSpPr/>
          <p:nvPr/>
        </p:nvSpPr>
        <p:spPr>
          <a:xfrm>
            <a:off x="600869" y="5208271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858E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EB10FAC-C9BF-7146-C713-06D928B838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020" y="5273422"/>
            <a:ext cx="212598" cy="212598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77F72E25-68A8-3926-B56F-323055F83700}"/>
              </a:ext>
            </a:extLst>
          </p:cNvPr>
          <p:cNvSpPr/>
          <p:nvPr/>
        </p:nvSpPr>
        <p:spPr>
          <a:xfrm>
            <a:off x="600869" y="5703571"/>
            <a:ext cx="320675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STAGE 1</a:t>
            </a:r>
            <a:endParaRPr lang="en-US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909760-38AF-8952-6D50-14BBCC41BB6D}"/>
              </a:ext>
            </a:extLst>
          </p:cNvPr>
          <p:cNvSpPr/>
          <p:nvPr/>
        </p:nvSpPr>
        <p:spPr>
          <a:xfrm>
            <a:off x="457199" y="1962150"/>
            <a:ext cx="11315700" cy="4076700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-oblu7J6XVRnTsq5budlPA">
            <a:extLst>
              <a:ext uri="{FF2B5EF4-FFF2-40B4-BE49-F238E27FC236}">
                <a16:creationId xmlns:a16="http://schemas.microsoft.com/office/drawing/2014/main" id="{ACDA5B84-DD54-256B-AA97-2EAA56499B0F}"/>
              </a:ext>
            </a:extLst>
          </p:cNvPr>
          <p:cNvGrpSpPr/>
          <p:nvPr/>
        </p:nvGrpSpPr>
        <p:grpSpPr>
          <a:xfrm>
            <a:off x="457200" y="457200"/>
            <a:ext cx="1276350" cy="247650"/>
            <a:chOff x="457200" y="457200"/>
            <a:chExt cx="1276350" cy="247650"/>
          </a:xfrm>
        </p:grpSpPr>
        <p:sp>
          <p:nvSpPr>
            <p:cNvPr id="10" name="090554b0-8f6f-455f-b9ee-99c75f7ee32b">
              <a:extLst>
                <a:ext uri="{FF2B5EF4-FFF2-40B4-BE49-F238E27FC236}">
                  <a16:creationId xmlns:a16="http://schemas.microsoft.com/office/drawing/2014/main" id="{7A32824D-A744-BE0C-014A-4C9202C8BE15}"/>
                </a:ext>
              </a:extLst>
            </p:cNvPr>
            <p:cNvSpPr/>
            <p:nvPr/>
          </p:nvSpPr>
          <p:spPr>
            <a:xfrm>
              <a:off x="457200" y="45720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DEEFF"/>
            </a:solidFill>
            <a:ln w="9525">
              <a:solidFill>
                <a:srgbClr val="DADDFF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" name="c6b5f334-36b3-433a-bddb-d243a5c460aa">
              <a:extLst>
                <a:ext uri="{FF2B5EF4-FFF2-40B4-BE49-F238E27FC236}">
                  <a16:creationId xmlns:a16="http://schemas.microsoft.com/office/drawing/2014/main" id="{78FD1CB0-B7F6-688D-6C8A-D2B06F8F6AE1}"/>
                </a:ext>
              </a:extLst>
            </p:cNvPr>
            <p:cNvSpPr/>
            <p:nvPr/>
          </p:nvSpPr>
          <p:spPr>
            <a:xfrm>
              <a:off x="581025" y="504825"/>
              <a:ext cx="1108869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50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FLOW CONTROL</a:t>
              </a:r>
              <a:endParaRPr lang="en-US" sz="900" dirty="0"/>
            </a:p>
          </p:txBody>
        </p:sp>
      </p:grpSp>
      <p:sp>
        <p:nvSpPr>
          <p:cNvPr id="12" name="081b4a65-41f5-4300-89ab-5037b9d27d28">
            <a:extLst>
              <a:ext uri="{FF2B5EF4-FFF2-40B4-BE49-F238E27FC236}">
                <a16:creationId xmlns:a16="http://schemas.microsoft.com/office/drawing/2014/main" id="{D5787D65-3FF2-9F60-254C-85B55A2A074A}"/>
              </a:ext>
            </a:extLst>
          </p:cNvPr>
          <p:cNvSpPr/>
          <p:nvPr/>
        </p:nvSpPr>
        <p:spPr>
          <a:xfrm>
            <a:off x="457200" y="781050"/>
            <a:ext cx="11315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kern="0" spc="-7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INSTRUTION FETCH (IF)</a:t>
            </a:r>
            <a:endParaRPr lang="en-US" sz="2700" dirty="0"/>
          </a:p>
        </p:txBody>
      </p:sp>
      <p:sp>
        <p:nvSpPr>
          <p:cNvPr id="13" name="cb30aa4b-5090-420d-9260-a67877c9ed9a">
            <a:extLst>
              <a:ext uri="{FF2B5EF4-FFF2-40B4-BE49-F238E27FC236}">
                <a16:creationId xmlns:a16="http://schemas.microsoft.com/office/drawing/2014/main" id="{9B49805D-65B1-635C-C68D-4E080D7E39AC}"/>
              </a:ext>
            </a:extLst>
          </p:cNvPr>
          <p:cNvSpPr/>
          <p:nvPr/>
        </p:nvSpPr>
        <p:spPr>
          <a:xfrm>
            <a:off x="457200" y="1238250"/>
            <a:ext cx="11315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kern="0" spc="40" dirty="0">
                <a:solidFill>
                  <a:srgbClr val="000000">
                    <a:alpha val="60000"/>
                  </a:srgbClr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Addressing &amp; Routing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880731956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 tmFilter="0,0; 0.25,0.578; 0.5,0.875; 0.75,0.984; 1,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 tmFilter="0,0; 0.25,0.578; 0.5,0.875; 0.75,0.984; 1,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lide-085768df-e795-4956-8543-e11ac8470514-0::bg-accent" descr="preencoded.png">
            <a:extLst>
              <a:ext uri="{FF2B5EF4-FFF2-40B4-BE49-F238E27FC236}">
                <a16:creationId xmlns:a16="http://schemas.microsoft.com/office/drawing/2014/main" id="{47AF67F9-BF99-F9FC-B6B1-E4F8454BF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286000"/>
            <a:ext cx="7315200" cy="7315200"/>
          </a:xfrm>
          <a:prstGeom prst="rect">
            <a:avLst/>
          </a:prstGeom>
        </p:spPr>
      </p:pic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C3FD1E03-5150-A9A1-A541-3C9DA9116A3A}"/>
              </a:ext>
            </a:extLst>
          </p:cNvPr>
          <p:cNvSpPr/>
          <p:nvPr/>
        </p:nvSpPr>
        <p:spPr>
          <a:xfrm>
            <a:off x="8254009" y="1600200"/>
            <a:ext cx="3595090" cy="4846844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Alternate Process 51">
            <a:extLst>
              <a:ext uri="{FF2B5EF4-FFF2-40B4-BE49-F238E27FC236}">
                <a16:creationId xmlns:a16="http://schemas.microsoft.com/office/drawing/2014/main" id="{0A28D449-06A4-09CA-F377-5E76DEC06A3C}"/>
              </a:ext>
            </a:extLst>
          </p:cNvPr>
          <p:cNvSpPr/>
          <p:nvPr/>
        </p:nvSpPr>
        <p:spPr>
          <a:xfrm>
            <a:off x="8254010" y="1581150"/>
            <a:ext cx="3595089" cy="4846844"/>
          </a:xfrm>
          <a:prstGeom prst="flowChartAlternateProcess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5475" t="-17042" r="-25579" b="1979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lowchart: Alternate Process 46">
            <a:extLst>
              <a:ext uri="{FF2B5EF4-FFF2-40B4-BE49-F238E27FC236}">
                <a16:creationId xmlns:a16="http://schemas.microsoft.com/office/drawing/2014/main" id="{6A69814C-0EB5-1C4D-F6EC-2AF8AA987392}"/>
              </a:ext>
            </a:extLst>
          </p:cNvPr>
          <p:cNvSpPr/>
          <p:nvPr/>
        </p:nvSpPr>
        <p:spPr>
          <a:xfrm>
            <a:off x="485774" y="1847850"/>
            <a:ext cx="3556992" cy="4648200"/>
          </a:xfrm>
          <a:prstGeom prst="flowChartAlternateProcess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544" t="-17593" r="-15022" b="2854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lowchart: Alternate Process 42">
            <a:extLst>
              <a:ext uri="{FF2B5EF4-FFF2-40B4-BE49-F238E27FC236}">
                <a16:creationId xmlns:a16="http://schemas.microsoft.com/office/drawing/2014/main" id="{D8678C1C-6B97-84DC-2671-4F8B1AE89581}"/>
              </a:ext>
            </a:extLst>
          </p:cNvPr>
          <p:cNvSpPr/>
          <p:nvPr/>
        </p:nvSpPr>
        <p:spPr>
          <a:xfrm>
            <a:off x="8254010" y="1631466"/>
            <a:ext cx="3595089" cy="4796528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-oblu7J6XVRnTsq5budlPA"/>
          <p:cNvGrpSpPr/>
          <p:nvPr/>
        </p:nvGrpSpPr>
        <p:grpSpPr>
          <a:xfrm>
            <a:off x="457200" y="457200"/>
            <a:ext cx="1276350" cy="247650"/>
            <a:chOff x="457200" y="457200"/>
            <a:chExt cx="1276350" cy="247650"/>
          </a:xfrm>
        </p:grpSpPr>
        <p:sp>
          <p:nvSpPr>
            <p:cNvPr id="2" name="090554b0-8f6f-455f-b9ee-99c75f7ee32b"/>
            <p:cNvSpPr/>
            <p:nvPr/>
          </p:nvSpPr>
          <p:spPr>
            <a:xfrm>
              <a:off x="457200" y="45720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DEEFF"/>
            </a:solidFill>
            <a:ln w="9525">
              <a:solidFill>
                <a:srgbClr val="DADDFF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5" name="c6b5f334-36b3-433a-bddb-d243a5c460aa"/>
            <p:cNvSpPr/>
            <p:nvPr/>
          </p:nvSpPr>
          <p:spPr>
            <a:xfrm>
              <a:off x="581025" y="504825"/>
              <a:ext cx="1108869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50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FLOW CONTROL</a:t>
              </a:r>
              <a:endParaRPr lang="en-US" sz="900" dirty="0"/>
            </a:p>
          </p:txBody>
        </p:sp>
      </p:grpSp>
      <p:sp>
        <p:nvSpPr>
          <p:cNvPr id="3" name="081b4a65-41f5-4300-89ab-5037b9d27d28"/>
          <p:cNvSpPr/>
          <p:nvPr/>
        </p:nvSpPr>
        <p:spPr>
          <a:xfrm>
            <a:off x="457200" y="781050"/>
            <a:ext cx="11315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kern="0" spc="-7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Program Counter and Instruction Memory</a:t>
            </a:r>
            <a:endParaRPr lang="en-US" sz="2700" dirty="0"/>
          </a:p>
        </p:txBody>
      </p:sp>
      <p:sp>
        <p:nvSpPr>
          <p:cNvPr id="4" name="cb30aa4b-5090-420d-9260-a67877c9ed9a"/>
          <p:cNvSpPr/>
          <p:nvPr/>
        </p:nvSpPr>
        <p:spPr>
          <a:xfrm>
            <a:off x="457200" y="1238250"/>
            <a:ext cx="11315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kern="0" spc="40" dirty="0">
                <a:solidFill>
                  <a:srgbClr val="000000">
                    <a:alpha val="60000"/>
                  </a:srgbClr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Addressing &amp; Routing</a:t>
            </a:r>
            <a:endParaRPr lang="en-US" sz="1500" dirty="0"/>
          </a:p>
        </p:txBody>
      </p:sp>
      <p:sp>
        <p:nvSpPr>
          <p:cNvPr id="6" name="boxes-marker-a140c506-c818-4360-8dff-c5ea66474bda"/>
          <p:cNvSpPr/>
          <p:nvPr/>
        </p:nvSpPr>
        <p:spPr>
          <a:xfrm>
            <a:off x="603251" y="4877975"/>
            <a:ext cx="385762" cy="393856"/>
          </a:xfrm>
          <a:prstGeom prst="roundRect">
            <a:avLst>
              <a:gd name="adj" fmla="val 33333"/>
            </a:avLst>
          </a:prstGeom>
          <a:solidFill>
            <a:srgbClr val="858E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037" y="4952808"/>
            <a:ext cx="244190" cy="244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1025" y="5360085"/>
            <a:ext cx="3254374" cy="196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49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exend Black" pitchFamily="34" charset="0"/>
                <a:ea typeface="Lexend Black" pitchFamily="34" charset="-122"/>
                <a:cs typeface="Lexend Black" pitchFamily="34" charset="-120"/>
              </a:rPr>
              <a:t>Program Counter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81026" y="5556435"/>
            <a:ext cx="3254374" cy="4901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Sequentially tracks and updates 4-bit instruction memory addresses.</a:t>
            </a:r>
            <a:endParaRPr lang="en-US" sz="1350" dirty="0"/>
          </a:p>
        </p:txBody>
      </p:sp>
      <p:sp>
        <p:nvSpPr>
          <p:cNvPr id="11" name="boxes-marker-c6b6f29a-29c5-4955-bf6a-c3ed53c0e2eb"/>
          <p:cNvSpPr/>
          <p:nvPr/>
        </p:nvSpPr>
        <p:spPr>
          <a:xfrm>
            <a:off x="8326045" y="4932277"/>
            <a:ext cx="385763" cy="385763"/>
          </a:xfrm>
          <a:prstGeom prst="roundRect">
            <a:avLst>
              <a:gd name="adj" fmla="val 33333"/>
            </a:avLst>
          </a:prstGeom>
          <a:solidFill>
            <a:srgbClr val="FFB093"/>
          </a:solidFill>
          <a:ln w="12700">
            <a:solidFill>
              <a:srgbClr val="FFB0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9340" y="5005572"/>
            <a:ext cx="239173" cy="2391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28234" y="5393224"/>
            <a:ext cx="3538115" cy="190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49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exend Black" pitchFamily="34" charset="0"/>
              </a:rPr>
              <a:t>Instruction Memory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328235" y="5543592"/>
            <a:ext cx="3358940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Routes branch targets versus sequential PC addresses based on control flags.</a:t>
            </a:r>
            <a:endParaRPr lang="en-US" sz="1350" dirty="0"/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30BA3183-5CB7-4EED-1CAC-2187F9E322AF}"/>
              </a:ext>
            </a:extLst>
          </p:cNvPr>
          <p:cNvSpPr/>
          <p:nvPr/>
        </p:nvSpPr>
        <p:spPr>
          <a:xfrm>
            <a:off x="457200" y="1676400"/>
            <a:ext cx="3556991" cy="4648200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Alternate Process 65">
            <a:extLst>
              <a:ext uri="{FF2B5EF4-FFF2-40B4-BE49-F238E27FC236}">
                <a16:creationId xmlns:a16="http://schemas.microsoft.com/office/drawing/2014/main" id="{A9ADE453-0BE3-728C-B4F5-221C2419A9B2}"/>
              </a:ext>
            </a:extLst>
          </p:cNvPr>
          <p:cNvSpPr/>
          <p:nvPr/>
        </p:nvSpPr>
        <p:spPr>
          <a:xfrm>
            <a:off x="4300255" y="1727356"/>
            <a:ext cx="3556992" cy="3126742"/>
          </a:xfrm>
          <a:prstGeom prst="flowChartAlternateProcess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b="-4866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boxes-marker-a140c506-c818-4360-8dff-c5ea66474bda">
            <a:extLst>
              <a:ext uri="{FF2B5EF4-FFF2-40B4-BE49-F238E27FC236}">
                <a16:creationId xmlns:a16="http://schemas.microsoft.com/office/drawing/2014/main" id="{D5870759-DB9E-943D-0309-5044B5CFAE93}"/>
              </a:ext>
            </a:extLst>
          </p:cNvPr>
          <p:cNvSpPr/>
          <p:nvPr/>
        </p:nvSpPr>
        <p:spPr>
          <a:xfrm>
            <a:off x="4533899" y="4877975"/>
            <a:ext cx="385762" cy="393856"/>
          </a:xfrm>
          <a:prstGeom prst="roundRect">
            <a:avLst>
              <a:gd name="adj" fmla="val 33333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0" name="Image 0" descr="Transfer with solid fill">
            <a:extLst>
              <a:ext uri="{FF2B5EF4-FFF2-40B4-BE49-F238E27FC236}">
                <a16:creationId xmlns:a16="http://schemas.microsoft.com/office/drawing/2014/main" id="{FC65B5D0-38E3-1C07-D04E-3400C2A55B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604685" y="4952808"/>
            <a:ext cx="244190" cy="244190"/>
          </a:xfrm>
          <a:prstGeom prst="rect">
            <a:avLst/>
          </a:prstGeom>
        </p:spPr>
      </p:pic>
      <p:sp>
        <p:nvSpPr>
          <p:cNvPr id="72" name="Text 5">
            <a:extLst>
              <a:ext uri="{FF2B5EF4-FFF2-40B4-BE49-F238E27FC236}">
                <a16:creationId xmlns:a16="http://schemas.microsoft.com/office/drawing/2014/main" id="{274D97AF-6D12-FABE-839B-A15BA59742A0}"/>
              </a:ext>
            </a:extLst>
          </p:cNvPr>
          <p:cNvSpPr/>
          <p:nvPr/>
        </p:nvSpPr>
        <p:spPr>
          <a:xfrm>
            <a:off x="4527361" y="5368448"/>
            <a:ext cx="3254374" cy="196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400" b="1" dirty="0"/>
              <a:t>PC </a:t>
            </a:r>
            <a:r>
              <a:rPr lang="en-US" sz="1350" b="1" dirty="0">
                <a:latin typeface="Lexend Black" panose="020B0604020202020204" charset="0"/>
              </a:rPr>
              <a:t>MUX</a:t>
            </a:r>
          </a:p>
        </p:txBody>
      </p:sp>
      <p:sp>
        <p:nvSpPr>
          <p:cNvPr id="74" name="Text 6">
            <a:extLst>
              <a:ext uri="{FF2B5EF4-FFF2-40B4-BE49-F238E27FC236}">
                <a16:creationId xmlns:a16="http://schemas.microsoft.com/office/drawing/2014/main" id="{70FC1F9F-3340-6B90-410B-AE1513C38352}"/>
              </a:ext>
            </a:extLst>
          </p:cNvPr>
          <p:cNvSpPr/>
          <p:nvPr/>
        </p:nvSpPr>
        <p:spPr>
          <a:xfrm>
            <a:off x="4527361" y="5583534"/>
            <a:ext cx="3254374" cy="4901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latin typeface="+mj-lt"/>
              </a:rPr>
              <a:t>Acts as a switch to select between PC+1 or Jump Address</a:t>
            </a:r>
          </a:p>
        </p:txBody>
      </p:sp>
      <p:sp>
        <p:nvSpPr>
          <p:cNvPr id="76" name="Flowchart: Alternate Process 75">
            <a:extLst>
              <a:ext uri="{FF2B5EF4-FFF2-40B4-BE49-F238E27FC236}">
                <a16:creationId xmlns:a16="http://schemas.microsoft.com/office/drawing/2014/main" id="{40473737-A420-11D4-3B8A-9889877F4604}"/>
              </a:ext>
            </a:extLst>
          </p:cNvPr>
          <p:cNvSpPr/>
          <p:nvPr/>
        </p:nvSpPr>
        <p:spPr>
          <a:xfrm>
            <a:off x="4317505" y="1676400"/>
            <a:ext cx="3556991" cy="4648200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65419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 tmFilter="0,0; 0.25,0.578; 0.5,0.875; 0.75,0.984; 1,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 tmFilter="0,0; 0.25,0.578; 0.5,0.875; 0.75,0.984; 1,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lide-085768df-e795-4956-8543-e11ac8470514-0::bg-accent" descr="preencoded.png">
            <a:extLst>
              <a:ext uri="{FF2B5EF4-FFF2-40B4-BE49-F238E27FC236}">
                <a16:creationId xmlns:a16="http://schemas.microsoft.com/office/drawing/2014/main" id="{BA46BD73-0E8D-50F4-44CD-A5FDA9983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286000"/>
            <a:ext cx="7315200" cy="7315200"/>
          </a:xfrm>
          <a:prstGeom prst="rect">
            <a:avLst/>
          </a:prstGeom>
        </p:spPr>
      </p:pic>
      <p:sp>
        <p:nvSpPr>
          <p:cNvPr id="23" name="boxes-card-7b629db4-445d-42b5-a88b-a26d9f465658">
            <a:extLst>
              <a:ext uri="{FF2B5EF4-FFF2-40B4-BE49-F238E27FC236}">
                <a16:creationId xmlns:a16="http://schemas.microsoft.com/office/drawing/2014/main" id="{CB091616-5CA4-B36A-D5BA-2CCBB18CB977}"/>
              </a:ext>
            </a:extLst>
          </p:cNvPr>
          <p:cNvSpPr/>
          <p:nvPr/>
        </p:nvSpPr>
        <p:spPr>
          <a:xfrm>
            <a:off x="6163271" y="4749800"/>
            <a:ext cx="5574506" cy="1739900"/>
          </a:xfrm>
          <a:prstGeom prst="roundRect">
            <a:avLst>
              <a:gd name="adj" fmla="val 14418"/>
            </a:avLst>
          </a:prstGeom>
          <a:solidFill>
            <a:srgbClr val="FFFF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-92hYIsWBQ5CjQxFQh4zpI"/>
          <p:cNvGrpSpPr/>
          <p:nvPr/>
        </p:nvGrpSpPr>
        <p:grpSpPr>
          <a:xfrm>
            <a:off x="457200" y="457200"/>
            <a:ext cx="2219325" cy="247650"/>
            <a:chOff x="457200" y="457200"/>
            <a:chExt cx="2219325" cy="247650"/>
          </a:xfrm>
        </p:grpSpPr>
        <p:sp>
          <p:nvSpPr>
            <p:cNvPr id="2" name="4fe3d3fa-eb0e-4bcb-9ded-53ff6766b0f4"/>
            <p:cNvSpPr/>
            <p:nvPr/>
          </p:nvSpPr>
          <p:spPr>
            <a:xfrm>
              <a:off x="457200" y="457200"/>
              <a:ext cx="2219325" cy="247650"/>
            </a:xfrm>
            <a:prstGeom prst="roundRect">
              <a:avLst>
                <a:gd name="adj" fmla="val 50000"/>
              </a:avLst>
            </a:prstGeom>
            <a:solidFill>
              <a:srgbClr val="EDEEFF"/>
            </a:solidFill>
            <a:ln w="9525">
              <a:solidFill>
                <a:srgbClr val="DADDFF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5" name="fa7ccf59-581e-4d46-a18b-5e80372162ea"/>
            <p:cNvSpPr/>
            <p:nvPr/>
          </p:nvSpPr>
          <p:spPr>
            <a:xfrm>
              <a:off x="581025" y="504825"/>
              <a:ext cx="2052308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900" kern="0" spc="50" dirty="0">
                  <a:solidFill>
                    <a:srgbClr val="000000"/>
                  </a:solidFill>
                  <a:latin typeface="Lexend SemiBold" pitchFamily="34" charset="0"/>
                  <a:ea typeface="Lexend SemiBold" pitchFamily="34" charset="-122"/>
                  <a:cs typeface="Lexend SemiBold" pitchFamily="34" charset="-120"/>
                </a:rPr>
                <a:t>TIMING &amp; SYNCHRONIZATION</a:t>
              </a:r>
              <a:endParaRPr lang="en-US" sz="900" dirty="0"/>
            </a:p>
          </p:txBody>
        </p:sp>
      </p:grpSp>
      <p:sp>
        <p:nvSpPr>
          <p:cNvPr id="3" name="a34604b8-b68b-48f0-8435-47639b3e615d"/>
          <p:cNvSpPr/>
          <p:nvPr/>
        </p:nvSpPr>
        <p:spPr>
          <a:xfrm>
            <a:off x="457200" y="781050"/>
            <a:ext cx="11315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kern="0" spc="-7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Pipeline Register Buffering Strategy</a:t>
            </a:r>
            <a:endParaRPr lang="en-US" sz="2700" dirty="0"/>
          </a:p>
        </p:txBody>
      </p:sp>
      <p:sp>
        <p:nvSpPr>
          <p:cNvPr id="4" name="838cd047-379e-4368-86d4-9949985ba24e"/>
          <p:cNvSpPr/>
          <p:nvPr/>
        </p:nvSpPr>
        <p:spPr>
          <a:xfrm>
            <a:off x="457200" y="1238250"/>
            <a:ext cx="11315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40" dirty="0">
                <a:solidFill>
                  <a:srgbClr val="000000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Stage Isolation</a:t>
            </a:r>
            <a:endParaRPr lang="en-US" sz="1500" dirty="0"/>
          </a:p>
        </p:txBody>
      </p:sp>
      <p:sp>
        <p:nvSpPr>
          <p:cNvPr id="5" name="boxes-card-7b629db4-445d-42b5-a88b-a26d9f465658"/>
          <p:cNvSpPr/>
          <p:nvPr/>
        </p:nvSpPr>
        <p:spPr>
          <a:xfrm>
            <a:off x="322065" y="4749800"/>
            <a:ext cx="5574506" cy="1739900"/>
          </a:xfrm>
          <a:prstGeom prst="roundRect">
            <a:avLst>
              <a:gd name="adj" fmla="val 14418"/>
            </a:avLst>
          </a:prstGeom>
          <a:solidFill>
            <a:srgbClr val="FFFF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boxes-marker-7b629db4-445d-42b5-a88b-a26d9f465658"/>
          <p:cNvSpPr/>
          <p:nvPr/>
        </p:nvSpPr>
        <p:spPr>
          <a:xfrm>
            <a:off x="588765" y="4936244"/>
            <a:ext cx="433983" cy="433983"/>
          </a:xfrm>
          <a:prstGeom prst="roundRect">
            <a:avLst>
              <a:gd name="adj" fmla="val 29630"/>
            </a:avLst>
          </a:prstGeom>
          <a:solidFill>
            <a:srgbClr val="858E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8765" y="5563108"/>
            <a:ext cx="4953000" cy="21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latin typeface="Lexend Black" panose="020B0604020202020204" charset="0"/>
              </a:rPr>
              <a:t>Purpose</a:t>
            </a:r>
          </a:p>
        </p:txBody>
      </p:sp>
      <p:sp>
        <p:nvSpPr>
          <p:cNvPr id="9" name="Text 6"/>
          <p:cNvSpPr/>
          <p:nvPr/>
        </p:nvSpPr>
        <p:spPr>
          <a:xfrm>
            <a:off x="588765" y="5841500"/>
            <a:ext cx="4953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/>
              <a:t>Act as data waiting rooms between pipeline stages.</a:t>
            </a:r>
            <a:endParaRPr lang="en-US" sz="1350" dirty="0"/>
          </a:p>
        </p:txBody>
      </p:sp>
      <p:sp>
        <p:nvSpPr>
          <p:cNvPr id="11" name="boxes-marker-565a5d4a-c2e1-4235-bcee-215f2c0232b6"/>
          <p:cNvSpPr/>
          <p:nvPr/>
        </p:nvSpPr>
        <p:spPr>
          <a:xfrm>
            <a:off x="6467674" y="4936244"/>
            <a:ext cx="433983" cy="433983"/>
          </a:xfrm>
          <a:prstGeom prst="roundRect">
            <a:avLst>
              <a:gd name="adj" fmla="val 29630"/>
            </a:avLst>
          </a:prstGeom>
          <a:solidFill>
            <a:srgbClr val="FFB093"/>
          </a:solidFill>
          <a:ln w="12700">
            <a:solidFill>
              <a:srgbClr val="FFB0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Hourglass 60%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71221" y="5018700"/>
            <a:ext cx="269069" cy="2690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67674" y="5563108"/>
            <a:ext cx="4953000" cy="21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latin typeface="Lexend Black" panose="020B0604020202020204" charset="0"/>
              </a:rPr>
              <a:t>Mechanism</a:t>
            </a:r>
          </a:p>
        </p:txBody>
      </p:sp>
      <p:sp>
        <p:nvSpPr>
          <p:cNvPr id="14" name="Text 10"/>
          <p:cNvSpPr/>
          <p:nvPr/>
        </p:nvSpPr>
        <p:spPr>
          <a:xfrm>
            <a:off x="6467674" y="5841500"/>
            <a:ext cx="4953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/>
              <a:t>Catch and hold signals steady at every clock edge to prevent data collision.</a:t>
            </a:r>
            <a:endParaRPr lang="en-US" sz="1350" dirty="0"/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F9C88664-BBD8-CDC3-3782-27695CD9D6F2}"/>
              </a:ext>
            </a:extLst>
          </p:cNvPr>
          <p:cNvSpPr/>
          <p:nvPr/>
        </p:nvSpPr>
        <p:spPr>
          <a:xfrm>
            <a:off x="322065" y="4749800"/>
            <a:ext cx="5574506" cy="1739900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61A5EE65-6A3A-3EA5-C857-48252D140CCE}"/>
              </a:ext>
            </a:extLst>
          </p:cNvPr>
          <p:cNvSpPr/>
          <p:nvPr/>
        </p:nvSpPr>
        <p:spPr>
          <a:xfrm>
            <a:off x="6156921" y="4749800"/>
            <a:ext cx="5574506" cy="1739900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130" y="5018700"/>
            <a:ext cx="269069" cy="269069"/>
          </a:xfrm>
          <a:prstGeom prst="rect">
            <a:avLst/>
          </a:prstGeom>
        </p:spPr>
      </p:pic>
      <p:sp>
        <p:nvSpPr>
          <p:cNvPr id="32" name="boxes-card-7b629db4-445d-42b5-a88b-a26d9f465658">
            <a:extLst>
              <a:ext uri="{FF2B5EF4-FFF2-40B4-BE49-F238E27FC236}">
                <a16:creationId xmlns:a16="http://schemas.microsoft.com/office/drawing/2014/main" id="{04A87CF1-3D19-7042-5AF1-E08DBF6B97C0}"/>
              </a:ext>
            </a:extLst>
          </p:cNvPr>
          <p:cNvSpPr/>
          <p:nvPr/>
        </p:nvSpPr>
        <p:spPr>
          <a:xfrm>
            <a:off x="2247900" y="1529691"/>
            <a:ext cx="7588250" cy="3051969"/>
          </a:xfrm>
          <a:prstGeom prst="roundRect">
            <a:avLst>
              <a:gd name="adj" fmla="val 14418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017" t="-29507" r="-627" b="-12429"/>
            </a:stretch>
          </a:blip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Flowchart: Alternate Process 33">
            <a:extLst>
              <a:ext uri="{FF2B5EF4-FFF2-40B4-BE49-F238E27FC236}">
                <a16:creationId xmlns:a16="http://schemas.microsoft.com/office/drawing/2014/main" id="{79F3301C-87DA-1C2E-5B81-B027AE200FE6}"/>
              </a:ext>
            </a:extLst>
          </p:cNvPr>
          <p:cNvSpPr/>
          <p:nvPr/>
        </p:nvSpPr>
        <p:spPr>
          <a:xfrm>
            <a:off x="2247900" y="1545344"/>
            <a:ext cx="7588250" cy="3036316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8004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 tmFilter="0,0; 0.25,0.578; 0.5,0.875; 0.75,0.984; 1,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 tmFilter="0,0; 0.25,0.578; 0.5,0.875; 0.75,0.984; 1,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67B0671B-DADC-F0BB-B626-2FEB3F5F4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095" y="2027231"/>
            <a:ext cx="4656108" cy="4011619"/>
          </a:xfrm>
          <a:prstGeom prst="rect">
            <a:avLst/>
          </a:prstGeom>
        </p:spPr>
      </p:pic>
      <p:pic>
        <p:nvPicPr>
          <p:cNvPr id="23" name="slide-085768df-e795-4956-8543-e11ac8470514-0::bg-accent" descr="preencoded.png">
            <a:extLst>
              <a:ext uri="{FF2B5EF4-FFF2-40B4-BE49-F238E27FC236}">
                <a16:creationId xmlns:a16="http://schemas.microsoft.com/office/drawing/2014/main" id="{49250F08-86B4-20E1-32C4-48D21E766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2286000"/>
            <a:ext cx="7315200" cy="73152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0F44CD0-B3A4-1BAB-CBAA-13B5BCADB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202" y="2027231"/>
            <a:ext cx="5105697" cy="4011619"/>
          </a:xfrm>
          <a:prstGeom prst="rect">
            <a:avLst/>
          </a:prstGeom>
        </p:spPr>
      </p:pic>
      <p:sp>
        <p:nvSpPr>
          <p:cNvPr id="6" name="boxes-marker-da235962-e192-4b10-bdd6-c2601501326c"/>
          <p:cNvSpPr/>
          <p:nvPr/>
        </p:nvSpPr>
        <p:spPr>
          <a:xfrm>
            <a:off x="727075" y="5213986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858E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226" y="5279137"/>
            <a:ext cx="212598" cy="2125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7075" y="5709286"/>
            <a:ext cx="320675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STAGE 2</a:t>
            </a:r>
            <a:endParaRPr lang="en-US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682417-2E49-144F-A6D1-2465AB7D7045}"/>
              </a:ext>
            </a:extLst>
          </p:cNvPr>
          <p:cNvSpPr/>
          <p:nvPr/>
        </p:nvSpPr>
        <p:spPr>
          <a:xfrm>
            <a:off x="457199" y="1962150"/>
            <a:ext cx="11315700" cy="4076700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34604b8-b68b-48f0-8435-47639b3e615d">
            <a:extLst>
              <a:ext uri="{FF2B5EF4-FFF2-40B4-BE49-F238E27FC236}">
                <a16:creationId xmlns:a16="http://schemas.microsoft.com/office/drawing/2014/main" id="{F2DDBE67-5FA5-0FF7-08A7-5DD6E6A8E557}"/>
              </a:ext>
            </a:extLst>
          </p:cNvPr>
          <p:cNvSpPr/>
          <p:nvPr/>
        </p:nvSpPr>
        <p:spPr>
          <a:xfrm>
            <a:off x="457200" y="781050"/>
            <a:ext cx="11315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kern="0" spc="-7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INSTRUCTION DECODE (ID)</a:t>
            </a:r>
            <a:endParaRPr lang="en-US" sz="2700" dirty="0"/>
          </a:p>
        </p:txBody>
      </p:sp>
      <p:sp>
        <p:nvSpPr>
          <p:cNvPr id="37" name="838cd047-379e-4368-86d4-9949985ba24e">
            <a:extLst>
              <a:ext uri="{FF2B5EF4-FFF2-40B4-BE49-F238E27FC236}">
                <a16:creationId xmlns:a16="http://schemas.microsoft.com/office/drawing/2014/main" id="{E0FE09C5-9A7A-CB1A-0354-B4167D73C47C}"/>
              </a:ext>
            </a:extLst>
          </p:cNvPr>
          <p:cNvSpPr/>
          <p:nvPr/>
        </p:nvSpPr>
        <p:spPr>
          <a:xfrm>
            <a:off x="457200" y="1238250"/>
            <a:ext cx="11315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40" dirty="0">
                <a:solidFill>
                  <a:srgbClr val="000000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Stage Isolation</a:t>
            </a:r>
            <a:endParaRPr lang="en-US" sz="1500" dirty="0"/>
          </a:p>
        </p:txBody>
      </p:sp>
      <p:grpSp>
        <p:nvGrpSpPr>
          <p:cNvPr id="38" name="group-d-g9w0dmAlxqOqoOL1V_K">
            <a:extLst>
              <a:ext uri="{FF2B5EF4-FFF2-40B4-BE49-F238E27FC236}">
                <a16:creationId xmlns:a16="http://schemas.microsoft.com/office/drawing/2014/main" id="{CD7B472E-67B7-56C6-0AE8-B117FF9955B8}"/>
              </a:ext>
            </a:extLst>
          </p:cNvPr>
          <p:cNvGrpSpPr/>
          <p:nvPr/>
        </p:nvGrpSpPr>
        <p:grpSpPr>
          <a:xfrm>
            <a:off x="457200" y="457200"/>
            <a:ext cx="2124075" cy="247650"/>
            <a:chOff x="457200" y="457200"/>
            <a:chExt cx="2124075" cy="247650"/>
          </a:xfrm>
        </p:grpSpPr>
        <p:sp>
          <p:nvSpPr>
            <p:cNvPr id="39" name="a21a2da2-3c79-4092-95ab-2f72a59f643e">
              <a:extLst>
                <a:ext uri="{FF2B5EF4-FFF2-40B4-BE49-F238E27FC236}">
                  <a16:creationId xmlns:a16="http://schemas.microsoft.com/office/drawing/2014/main" id="{06E89D0D-45D1-53F9-A2A9-8BC2176BAD98}"/>
                </a:ext>
              </a:extLst>
            </p:cNvPr>
            <p:cNvSpPr/>
            <p:nvPr/>
          </p:nvSpPr>
          <p:spPr>
            <a:xfrm>
              <a:off x="457200" y="457200"/>
              <a:ext cx="2124075" cy="247650"/>
            </a:xfrm>
            <a:prstGeom prst="roundRect">
              <a:avLst>
                <a:gd name="adj" fmla="val 50000"/>
              </a:avLst>
            </a:prstGeom>
            <a:solidFill>
              <a:srgbClr val="EDEEFF"/>
            </a:solidFill>
            <a:ln w="9525">
              <a:solidFill>
                <a:srgbClr val="DADDFF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0" name="5da1d7a0-faef-4358-9b9b-115be27e125f">
              <a:extLst>
                <a:ext uri="{FF2B5EF4-FFF2-40B4-BE49-F238E27FC236}">
                  <a16:creationId xmlns:a16="http://schemas.microsoft.com/office/drawing/2014/main" id="{77394429-B8D6-4491-879E-32750A152E16}"/>
                </a:ext>
              </a:extLst>
            </p:cNvPr>
            <p:cNvSpPr/>
            <p:nvPr/>
          </p:nvSpPr>
          <p:spPr>
            <a:xfrm>
              <a:off x="581025" y="504825"/>
              <a:ext cx="1960752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50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COMMAND INFRASTRUCTURE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20735580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 tmFilter="0,0; 0.25,0.578; 0.5,0.875; 0.75,0.984; 1,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 tmFilter="0,0; 0.25,0.578; 0.5,0.875; 0.75,0.984; 1,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lide-085768df-e795-4956-8543-e11ac8470514-0::bg-accent" descr="preencoded.png">
            <a:extLst>
              <a:ext uri="{FF2B5EF4-FFF2-40B4-BE49-F238E27FC236}">
                <a16:creationId xmlns:a16="http://schemas.microsoft.com/office/drawing/2014/main" id="{7DE10B07-0B29-DAF8-C66A-4C1D511DC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286000"/>
            <a:ext cx="7315200" cy="7315200"/>
          </a:xfrm>
          <a:prstGeom prst="rect">
            <a:avLst/>
          </a:prstGeom>
        </p:spPr>
      </p:pic>
      <p:sp>
        <p:nvSpPr>
          <p:cNvPr id="20" name="boxes-card-7b629db4-445d-42b5-a88b-a26d9f465658">
            <a:extLst>
              <a:ext uri="{FF2B5EF4-FFF2-40B4-BE49-F238E27FC236}">
                <a16:creationId xmlns:a16="http://schemas.microsoft.com/office/drawing/2014/main" id="{0BFC03F4-8575-1BFD-81ED-D40F6CA2E814}"/>
              </a:ext>
            </a:extLst>
          </p:cNvPr>
          <p:cNvSpPr/>
          <p:nvPr/>
        </p:nvSpPr>
        <p:spPr>
          <a:xfrm>
            <a:off x="6163271" y="4749800"/>
            <a:ext cx="5574506" cy="1739900"/>
          </a:xfrm>
          <a:prstGeom prst="roundRect">
            <a:avLst>
              <a:gd name="adj" fmla="val 14418"/>
            </a:avLst>
          </a:prstGeom>
          <a:solidFill>
            <a:srgbClr val="FFFF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oxes-card-7b629db4-445d-42b5-a88b-a26d9f465658">
            <a:extLst>
              <a:ext uri="{FF2B5EF4-FFF2-40B4-BE49-F238E27FC236}">
                <a16:creationId xmlns:a16="http://schemas.microsoft.com/office/drawing/2014/main" id="{AAFD460E-1A58-9584-FC4E-8458BCDC9708}"/>
              </a:ext>
            </a:extLst>
          </p:cNvPr>
          <p:cNvSpPr/>
          <p:nvPr/>
        </p:nvSpPr>
        <p:spPr>
          <a:xfrm>
            <a:off x="322065" y="4749800"/>
            <a:ext cx="5574506" cy="1739900"/>
          </a:xfrm>
          <a:prstGeom prst="roundRect">
            <a:avLst>
              <a:gd name="adj" fmla="val 14418"/>
            </a:avLst>
          </a:prstGeom>
          <a:solidFill>
            <a:srgbClr val="FFFF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45D6E517-FB1C-1903-E2AF-34E7E911C051}"/>
              </a:ext>
            </a:extLst>
          </p:cNvPr>
          <p:cNvSpPr/>
          <p:nvPr/>
        </p:nvSpPr>
        <p:spPr>
          <a:xfrm>
            <a:off x="322065" y="4749800"/>
            <a:ext cx="5574506" cy="1739900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lowchart: Alternate Process 25">
            <a:extLst>
              <a:ext uri="{FF2B5EF4-FFF2-40B4-BE49-F238E27FC236}">
                <a16:creationId xmlns:a16="http://schemas.microsoft.com/office/drawing/2014/main" id="{490E180A-1424-B03C-C77C-BB85BC463F36}"/>
              </a:ext>
            </a:extLst>
          </p:cNvPr>
          <p:cNvSpPr/>
          <p:nvPr/>
        </p:nvSpPr>
        <p:spPr>
          <a:xfrm>
            <a:off x="6156921" y="4749800"/>
            <a:ext cx="5574506" cy="1739900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-d-g9w0dmAlxqOqoOL1V_K"/>
          <p:cNvGrpSpPr/>
          <p:nvPr/>
        </p:nvGrpSpPr>
        <p:grpSpPr>
          <a:xfrm>
            <a:off x="457200" y="457200"/>
            <a:ext cx="2124075" cy="247650"/>
            <a:chOff x="457200" y="457200"/>
            <a:chExt cx="2124075" cy="247650"/>
          </a:xfrm>
        </p:grpSpPr>
        <p:sp>
          <p:nvSpPr>
            <p:cNvPr id="2" name="a21a2da2-3c79-4092-95ab-2f72a59f643e"/>
            <p:cNvSpPr/>
            <p:nvPr/>
          </p:nvSpPr>
          <p:spPr>
            <a:xfrm>
              <a:off x="457200" y="457200"/>
              <a:ext cx="2124075" cy="247650"/>
            </a:xfrm>
            <a:prstGeom prst="roundRect">
              <a:avLst>
                <a:gd name="adj" fmla="val 50000"/>
              </a:avLst>
            </a:prstGeom>
            <a:solidFill>
              <a:srgbClr val="EDEEFF"/>
            </a:solidFill>
            <a:ln w="9525">
              <a:solidFill>
                <a:srgbClr val="DADDFF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5" name="5da1d7a0-faef-4358-9b9b-115be27e125f"/>
            <p:cNvSpPr/>
            <p:nvPr/>
          </p:nvSpPr>
          <p:spPr>
            <a:xfrm>
              <a:off x="581025" y="504825"/>
              <a:ext cx="1960752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50" dirty="0">
                  <a:solidFill>
                    <a:srgbClr val="000000"/>
                  </a:solidFill>
                  <a:latin typeface="Lexend" pitchFamily="34" charset="0"/>
                  <a:ea typeface="Lexend" pitchFamily="34" charset="-122"/>
                  <a:cs typeface="Lexend" pitchFamily="34" charset="-120"/>
                </a:rPr>
                <a:t>COMMAND INFRASTRUCTURE</a:t>
              </a:r>
              <a:endParaRPr lang="en-US" sz="900" dirty="0"/>
            </a:p>
          </p:txBody>
        </p:sp>
      </p:grpSp>
      <p:sp>
        <p:nvSpPr>
          <p:cNvPr id="3" name="614fbce7-b8bd-49d1-a2e2-cfe2f21e1577"/>
          <p:cNvSpPr/>
          <p:nvPr/>
        </p:nvSpPr>
        <p:spPr>
          <a:xfrm>
            <a:off x="457200" y="781050"/>
            <a:ext cx="11315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kern="0" spc="-7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Control Unit and Instruction Decoding</a:t>
            </a:r>
            <a:endParaRPr lang="en-US" sz="2700" dirty="0"/>
          </a:p>
        </p:txBody>
      </p:sp>
      <p:sp>
        <p:nvSpPr>
          <p:cNvPr id="4" name="e611cd31-bf3b-41f7-98be-cc6f2c806853"/>
          <p:cNvSpPr/>
          <p:nvPr/>
        </p:nvSpPr>
        <p:spPr>
          <a:xfrm>
            <a:off x="457200" y="1238250"/>
            <a:ext cx="11315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40" dirty="0">
                <a:solidFill>
                  <a:srgbClr val="000000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Central Decoder</a:t>
            </a:r>
            <a:endParaRPr lang="en-US" sz="1500" dirty="0"/>
          </a:p>
        </p:txBody>
      </p:sp>
      <p:sp>
        <p:nvSpPr>
          <p:cNvPr id="6" name="boxes-marker-da0d4dda-ad01-4672-baeb-0eebd8716cd6"/>
          <p:cNvSpPr/>
          <p:nvPr/>
        </p:nvSpPr>
        <p:spPr>
          <a:xfrm>
            <a:off x="952103" y="4831842"/>
            <a:ext cx="433983" cy="433983"/>
          </a:xfrm>
          <a:prstGeom prst="roundRect">
            <a:avLst>
              <a:gd name="adj" fmla="val 29630"/>
            </a:avLst>
          </a:prstGeom>
          <a:solidFill>
            <a:srgbClr val="858E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560" y="4914299"/>
            <a:ext cx="269069" cy="2690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103" y="5458706"/>
            <a:ext cx="4953000" cy="21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lnSpc>
                <a:spcPts val="1686"/>
              </a:lnSpc>
              <a:buNone/>
            </a:pPr>
            <a:r>
              <a:rPr lang="en-US" sz="1519" dirty="0">
                <a:solidFill>
                  <a:srgbClr val="000000"/>
                </a:solidFill>
                <a:latin typeface="Lexend Black" pitchFamily="34" charset="0"/>
                <a:ea typeface="Lexend Black" pitchFamily="34" charset="-122"/>
                <a:cs typeface="Lexend Black" pitchFamily="34" charset="-120"/>
              </a:rPr>
              <a:t>Purpose</a:t>
            </a:r>
            <a:endParaRPr lang="en-US" sz="1519" dirty="0"/>
          </a:p>
        </p:txBody>
      </p:sp>
      <p:sp>
        <p:nvSpPr>
          <p:cNvPr id="9" name="Text 6"/>
          <p:cNvSpPr/>
          <p:nvPr/>
        </p:nvSpPr>
        <p:spPr>
          <a:xfrm>
            <a:off x="952103" y="5737098"/>
            <a:ext cx="4953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Translates incoming machine instructions into synchronized datapath control lines.</a:t>
            </a:r>
            <a:endParaRPr lang="en-US" sz="1350" dirty="0"/>
          </a:p>
        </p:txBody>
      </p:sp>
      <p:sp>
        <p:nvSpPr>
          <p:cNvPr id="11" name="boxes-marker-d4cbb6f4-436b-490e-a013-98fb3675af78"/>
          <p:cNvSpPr/>
          <p:nvPr/>
        </p:nvSpPr>
        <p:spPr>
          <a:xfrm>
            <a:off x="6655197" y="4831842"/>
            <a:ext cx="433983" cy="433983"/>
          </a:xfrm>
          <a:prstGeom prst="roundRect">
            <a:avLst>
              <a:gd name="adj" fmla="val 29630"/>
            </a:avLst>
          </a:prstGeom>
          <a:solidFill>
            <a:srgbClr val="FFB093"/>
          </a:solidFill>
          <a:ln w="12700">
            <a:solidFill>
              <a:srgbClr val="FFB0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7654" y="4914299"/>
            <a:ext cx="269069" cy="2690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55197" y="5458706"/>
            <a:ext cx="4953000" cy="21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lnSpc>
                <a:spcPts val="1686"/>
              </a:lnSpc>
              <a:buNone/>
            </a:pPr>
            <a:r>
              <a:rPr lang="en-US" sz="1519" dirty="0">
                <a:solidFill>
                  <a:srgbClr val="000000"/>
                </a:solidFill>
                <a:latin typeface="Lexend Black" pitchFamily="34" charset="0"/>
                <a:ea typeface="Lexend Black" pitchFamily="34" charset="-122"/>
                <a:cs typeface="Lexend Black" pitchFamily="34" charset="-120"/>
              </a:rPr>
              <a:t>Output</a:t>
            </a:r>
            <a:endParaRPr lang="en-US" sz="1519" dirty="0"/>
          </a:p>
        </p:txBody>
      </p:sp>
      <p:sp>
        <p:nvSpPr>
          <p:cNvPr id="14" name="Text 10"/>
          <p:cNvSpPr/>
          <p:nvPr/>
        </p:nvSpPr>
        <p:spPr>
          <a:xfrm>
            <a:off x="6655197" y="5737098"/>
            <a:ext cx="4953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/>
              <a:t>Generates hardware control signals (e.g., Reg_WE, ALU_Src) for the Execute stage.</a:t>
            </a:r>
          </a:p>
        </p:txBody>
      </p:sp>
      <p:sp>
        <p:nvSpPr>
          <p:cNvPr id="28" name="boxes-card-7b629db4-445d-42b5-a88b-a26d9f465658">
            <a:extLst>
              <a:ext uri="{FF2B5EF4-FFF2-40B4-BE49-F238E27FC236}">
                <a16:creationId xmlns:a16="http://schemas.microsoft.com/office/drawing/2014/main" id="{3F8B4CEC-B98F-E30D-6266-220137F57A14}"/>
              </a:ext>
            </a:extLst>
          </p:cNvPr>
          <p:cNvSpPr/>
          <p:nvPr/>
        </p:nvSpPr>
        <p:spPr>
          <a:xfrm>
            <a:off x="6329166" y="1814439"/>
            <a:ext cx="4440434" cy="2336800"/>
          </a:xfrm>
          <a:prstGeom prst="roundRect">
            <a:avLst>
              <a:gd name="adj" fmla="val 14418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030" t="-18674" r="-13510" b="-32549"/>
            </a:stretch>
          </a:blip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boxes-card-7b629db4-445d-42b5-a88b-a26d9f465658">
            <a:extLst>
              <a:ext uri="{FF2B5EF4-FFF2-40B4-BE49-F238E27FC236}">
                <a16:creationId xmlns:a16="http://schemas.microsoft.com/office/drawing/2014/main" id="{6E6BA5C4-EA46-92ED-34E2-391CF2BCD3A6}"/>
              </a:ext>
            </a:extLst>
          </p:cNvPr>
          <p:cNvSpPr/>
          <p:nvPr/>
        </p:nvSpPr>
        <p:spPr>
          <a:xfrm>
            <a:off x="1034559" y="1689701"/>
            <a:ext cx="5436521" cy="2602899"/>
          </a:xfrm>
          <a:prstGeom prst="roundRect">
            <a:avLst>
              <a:gd name="adj" fmla="val 14418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149" t="-38047" r="-17325" b="-62505"/>
            </a:stretch>
          </a:blip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Flowchart: Alternate Process 31">
            <a:extLst>
              <a:ext uri="{FF2B5EF4-FFF2-40B4-BE49-F238E27FC236}">
                <a16:creationId xmlns:a16="http://schemas.microsoft.com/office/drawing/2014/main" id="{FE6C2A8F-51D7-B652-51F2-493784482F04}"/>
              </a:ext>
            </a:extLst>
          </p:cNvPr>
          <p:cNvSpPr/>
          <p:nvPr/>
        </p:nvSpPr>
        <p:spPr>
          <a:xfrm>
            <a:off x="952102" y="1697831"/>
            <a:ext cx="9817497" cy="2453408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115552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 tmFilter="0,0; 0.25,0.578; 0.5,0.875; 0.75,0.984; 1,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 tmFilter="0,0; 0.25,0.578; 0.5,0.875; 0.75,0.984; 1,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2974E-3678-9397-CD1B-4386CA8C4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slide-085768df-e795-4956-8543-e11ac8470514-0::bg-accent" descr="preencoded.png">
            <a:extLst>
              <a:ext uri="{FF2B5EF4-FFF2-40B4-BE49-F238E27FC236}">
                <a16:creationId xmlns:a16="http://schemas.microsoft.com/office/drawing/2014/main" id="{7309CA4A-006D-E0E2-D952-5C0A6F305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286000"/>
            <a:ext cx="7315200" cy="73152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EAD8A91-B72B-07BD-BDA7-E70D068E88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" t="-15163" r="6941" b="-1"/>
          <a:stretch>
            <a:fillRect/>
          </a:stretch>
        </p:blipFill>
        <p:spPr>
          <a:xfrm>
            <a:off x="460158" y="1962151"/>
            <a:ext cx="11312742" cy="4076700"/>
          </a:xfrm>
          <a:prstGeom prst="rect">
            <a:avLst/>
          </a:prstGeom>
        </p:spPr>
      </p:pic>
      <p:sp>
        <p:nvSpPr>
          <p:cNvPr id="6" name="boxes-marker-da235962-e192-4b10-bdd6-c2601501326c">
            <a:extLst>
              <a:ext uri="{FF2B5EF4-FFF2-40B4-BE49-F238E27FC236}">
                <a16:creationId xmlns:a16="http://schemas.microsoft.com/office/drawing/2014/main" id="{01768E3B-DEAD-1576-BA41-869D39662DA9}"/>
              </a:ext>
            </a:extLst>
          </p:cNvPr>
          <p:cNvSpPr/>
          <p:nvPr/>
        </p:nvSpPr>
        <p:spPr>
          <a:xfrm>
            <a:off x="606425" y="5255896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858E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2D437735-20A5-A7E0-E4D2-4238437035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76" y="5321047"/>
            <a:ext cx="212598" cy="212598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961D01AB-A066-B9F7-8DCD-7D23E7228688}"/>
              </a:ext>
            </a:extLst>
          </p:cNvPr>
          <p:cNvSpPr/>
          <p:nvPr/>
        </p:nvSpPr>
        <p:spPr>
          <a:xfrm>
            <a:off x="606425" y="5751196"/>
            <a:ext cx="320675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STAGE 3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EA43F62-723B-CA72-BA0A-0EB2CCCE3A62}"/>
              </a:ext>
            </a:extLst>
          </p:cNvPr>
          <p:cNvSpPr/>
          <p:nvPr/>
        </p:nvSpPr>
        <p:spPr>
          <a:xfrm>
            <a:off x="854075" y="5713096"/>
            <a:ext cx="320675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AAC678-A080-701A-3697-F8E1F8F801E4}"/>
              </a:ext>
            </a:extLst>
          </p:cNvPr>
          <p:cNvSpPr/>
          <p:nvPr/>
        </p:nvSpPr>
        <p:spPr>
          <a:xfrm>
            <a:off x="457199" y="1962150"/>
            <a:ext cx="11315700" cy="4076700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34604b8-b68b-48f0-8435-47639b3e615d">
            <a:extLst>
              <a:ext uri="{FF2B5EF4-FFF2-40B4-BE49-F238E27FC236}">
                <a16:creationId xmlns:a16="http://schemas.microsoft.com/office/drawing/2014/main" id="{006DD639-1B61-C427-62B2-99413666F7E1}"/>
              </a:ext>
            </a:extLst>
          </p:cNvPr>
          <p:cNvSpPr/>
          <p:nvPr/>
        </p:nvSpPr>
        <p:spPr>
          <a:xfrm>
            <a:off x="457200" y="781050"/>
            <a:ext cx="11315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kern="0" spc="-70" dirty="0">
                <a:solidFill>
                  <a:srgbClr val="000000"/>
                </a:solidFill>
                <a:latin typeface="Lexend" pitchFamily="34" charset="0"/>
              </a:rPr>
              <a:t>Memory Register file &amp; ALU (Execute)</a:t>
            </a:r>
            <a:endParaRPr lang="en-US" sz="2700" dirty="0"/>
          </a:p>
        </p:txBody>
      </p:sp>
      <p:sp>
        <p:nvSpPr>
          <p:cNvPr id="37" name="838cd047-379e-4368-86d4-9949985ba24e">
            <a:extLst>
              <a:ext uri="{FF2B5EF4-FFF2-40B4-BE49-F238E27FC236}">
                <a16:creationId xmlns:a16="http://schemas.microsoft.com/office/drawing/2014/main" id="{47C15309-A5DB-AAD0-BB02-CF20283B0504}"/>
              </a:ext>
            </a:extLst>
          </p:cNvPr>
          <p:cNvSpPr/>
          <p:nvPr/>
        </p:nvSpPr>
        <p:spPr>
          <a:xfrm>
            <a:off x="457200" y="1238250"/>
            <a:ext cx="11315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40" dirty="0">
                <a:solidFill>
                  <a:srgbClr val="000000">
                    <a:alpha val="60000"/>
                  </a:srgbClr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Stage Isolation</a:t>
            </a:r>
            <a:endParaRPr lang="en-US" sz="1500" dirty="0"/>
          </a:p>
        </p:txBody>
      </p:sp>
      <p:grpSp>
        <p:nvGrpSpPr>
          <p:cNvPr id="11" name="group-TLMGTzIpNfFbxHF7Cg1No">
            <a:extLst>
              <a:ext uri="{FF2B5EF4-FFF2-40B4-BE49-F238E27FC236}">
                <a16:creationId xmlns:a16="http://schemas.microsoft.com/office/drawing/2014/main" id="{9597C8FD-34F5-5017-AAF9-763A19E4A9F0}"/>
              </a:ext>
            </a:extLst>
          </p:cNvPr>
          <p:cNvGrpSpPr/>
          <p:nvPr/>
        </p:nvGrpSpPr>
        <p:grpSpPr>
          <a:xfrm>
            <a:off x="457200" y="457200"/>
            <a:ext cx="1752600" cy="247650"/>
            <a:chOff x="457200" y="457200"/>
            <a:chExt cx="1752600" cy="247650"/>
          </a:xfrm>
        </p:grpSpPr>
        <p:sp>
          <p:nvSpPr>
            <p:cNvPr id="12" name="87abd1d8-902c-4b7e-9251-8c3f5667664c">
              <a:extLst>
                <a:ext uri="{FF2B5EF4-FFF2-40B4-BE49-F238E27FC236}">
                  <a16:creationId xmlns:a16="http://schemas.microsoft.com/office/drawing/2014/main" id="{5EA2584B-5C95-FEF2-736D-6AE735A7826E}"/>
                </a:ext>
              </a:extLst>
            </p:cNvPr>
            <p:cNvSpPr/>
            <p:nvPr/>
          </p:nvSpPr>
          <p:spPr>
            <a:xfrm>
              <a:off x="457200" y="457200"/>
              <a:ext cx="1752600" cy="247650"/>
            </a:xfrm>
            <a:prstGeom prst="roundRect">
              <a:avLst>
                <a:gd name="adj" fmla="val 50000"/>
              </a:avLst>
            </a:prstGeom>
            <a:solidFill>
              <a:srgbClr val="EDEEFF"/>
            </a:solidFill>
            <a:ln w="9525">
              <a:solidFill>
                <a:srgbClr val="DADDFF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>
                <a:latin typeface="+mj-lt"/>
              </a:endParaRPr>
            </a:p>
          </p:txBody>
        </p:sp>
        <p:sp>
          <p:nvSpPr>
            <p:cNvPr id="13" name="25eca705-4601-40c7-a4d9-04d8def6deca">
              <a:extLst>
                <a:ext uri="{FF2B5EF4-FFF2-40B4-BE49-F238E27FC236}">
                  <a16:creationId xmlns:a16="http://schemas.microsoft.com/office/drawing/2014/main" id="{C91AECD9-1C20-441C-BE7C-42816AE40299}"/>
                </a:ext>
              </a:extLst>
            </p:cNvPr>
            <p:cNvSpPr/>
            <p:nvPr/>
          </p:nvSpPr>
          <p:spPr>
            <a:xfrm>
              <a:off x="581025" y="504825"/>
              <a:ext cx="1586875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50" dirty="0">
                  <a:solidFill>
                    <a:srgbClr val="000000"/>
                  </a:solidFill>
                  <a:latin typeface="+mj-lt"/>
                  <a:ea typeface="Lexend" pitchFamily="34" charset="-122"/>
                  <a:cs typeface="Lexend" pitchFamily="34" charset="-120"/>
                </a:rPr>
                <a:t>ARCHITECTURAL STATE</a:t>
              </a:r>
              <a:endParaRPr lang="en-US" sz="9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8296123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 tmFilter="0,0; 0.25,0.578; 0.5,0.875; 0.75,0.984; 1,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 tmFilter="0,0; 0.25,0.578; 0.5,0.875; 0.75,0.984; 1,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lide-085768df-e795-4956-8543-e11ac8470514-0::bg-accent" descr="preencoded.png">
            <a:extLst>
              <a:ext uri="{FF2B5EF4-FFF2-40B4-BE49-F238E27FC236}">
                <a16:creationId xmlns:a16="http://schemas.microsoft.com/office/drawing/2014/main" id="{027CDAF5-AAC9-DAC9-258A-B1A13AA18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286000"/>
            <a:ext cx="7315200" cy="7315200"/>
          </a:xfrm>
          <a:prstGeom prst="rect">
            <a:avLst/>
          </a:prstGeom>
        </p:spPr>
      </p:pic>
      <p:sp>
        <p:nvSpPr>
          <p:cNvPr id="30" name="boxes-card-7b629db4-445d-42b5-a88b-a26d9f465658">
            <a:extLst>
              <a:ext uri="{FF2B5EF4-FFF2-40B4-BE49-F238E27FC236}">
                <a16:creationId xmlns:a16="http://schemas.microsoft.com/office/drawing/2014/main" id="{77116EDC-7988-7AF0-4B23-2DDC4A26E841}"/>
              </a:ext>
            </a:extLst>
          </p:cNvPr>
          <p:cNvSpPr/>
          <p:nvPr/>
        </p:nvSpPr>
        <p:spPr>
          <a:xfrm>
            <a:off x="6156921" y="1710356"/>
            <a:ext cx="5574506" cy="4779344"/>
          </a:xfrm>
          <a:prstGeom prst="roundRect">
            <a:avLst>
              <a:gd name="adj" fmla="val 14418"/>
            </a:avLst>
          </a:prstGeom>
          <a:solidFill>
            <a:srgbClr val="FFFF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20" name="boxes-card-7b629db4-445d-42b5-a88b-a26d9f465658">
            <a:extLst>
              <a:ext uri="{FF2B5EF4-FFF2-40B4-BE49-F238E27FC236}">
                <a16:creationId xmlns:a16="http://schemas.microsoft.com/office/drawing/2014/main" id="{C9E6F503-E0BF-4905-675C-FF3F7D052165}"/>
              </a:ext>
            </a:extLst>
          </p:cNvPr>
          <p:cNvSpPr/>
          <p:nvPr/>
        </p:nvSpPr>
        <p:spPr>
          <a:xfrm>
            <a:off x="6156921" y="2040705"/>
            <a:ext cx="5574506" cy="2804139"/>
          </a:xfrm>
          <a:prstGeom prst="roundRect">
            <a:avLst>
              <a:gd name="adj" fmla="val 14418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2879" t="-65558" r="-20995" b="-77818"/>
            </a:stretch>
          </a:blip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2" name="boxes-card-7b629db4-445d-42b5-a88b-a26d9f465658">
            <a:extLst>
              <a:ext uri="{FF2B5EF4-FFF2-40B4-BE49-F238E27FC236}">
                <a16:creationId xmlns:a16="http://schemas.microsoft.com/office/drawing/2014/main" id="{3A220EEC-5699-0AD3-22BF-81C4A4553843}"/>
              </a:ext>
            </a:extLst>
          </p:cNvPr>
          <p:cNvSpPr/>
          <p:nvPr/>
        </p:nvSpPr>
        <p:spPr>
          <a:xfrm>
            <a:off x="308774" y="1894837"/>
            <a:ext cx="5574506" cy="3134456"/>
          </a:xfrm>
          <a:prstGeom prst="roundRect">
            <a:avLst>
              <a:gd name="adj" fmla="val 14418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662" t="-34745" r="-20286" b="-86122"/>
            </a:stretch>
          </a:blip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B0F52821-86C6-76F8-6904-ED71B8592900}"/>
              </a:ext>
            </a:extLst>
          </p:cNvPr>
          <p:cNvSpPr/>
          <p:nvPr/>
        </p:nvSpPr>
        <p:spPr>
          <a:xfrm>
            <a:off x="322065" y="1746250"/>
            <a:ext cx="5574506" cy="4743450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26" name="Flowchart: Alternate Process 25">
            <a:extLst>
              <a:ext uri="{FF2B5EF4-FFF2-40B4-BE49-F238E27FC236}">
                <a16:creationId xmlns:a16="http://schemas.microsoft.com/office/drawing/2014/main" id="{BAB40B71-690A-0EBF-659D-229B24A03CD0}"/>
              </a:ext>
            </a:extLst>
          </p:cNvPr>
          <p:cNvSpPr/>
          <p:nvPr/>
        </p:nvSpPr>
        <p:spPr>
          <a:xfrm>
            <a:off x="6156921" y="1746250"/>
            <a:ext cx="5574506" cy="4743450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16" name="group-TLMGTzIpNfFbxHF7Cg1No"/>
          <p:cNvGrpSpPr/>
          <p:nvPr/>
        </p:nvGrpSpPr>
        <p:grpSpPr>
          <a:xfrm>
            <a:off x="457200" y="457200"/>
            <a:ext cx="1752600" cy="247650"/>
            <a:chOff x="457200" y="457200"/>
            <a:chExt cx="1752600" cy="247650"/>
          </a:xfrm>
        </p:grpSpPr>
        <p:sp>
          <p:nvSpPr>
            <p:cNvPr id="2" name="87abd1d8-902c-4b7e-9251-8c3f5667664c"/>
            <p:cNvSpPr/>
            <p:nvPr/>
          </p:nvSpPr>
          <p:spPr>
            <a:xfrm>
              <a:off x="457200" y="457200"/>
              <a:ext cx="1752600" cy="247650"/>
            </a:xfrm>
            <a:prstGeom prst="roundRect">
              <a:avLst>
                <a:gd name="adj" fmla="val 50000"/>
              </a:avLst>
            </a:prstGeom>
            <a:solidFill>
              <a:srgbClr val="EDEEFF"/>
            </a:solidFill>
            <a:ln w="9525">
              <a:solidFill>
                <a:srgbClr val="DADDFF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>
                <a:latin typeface="+mj-lt"/>
              </a:endParaRPr>
            </a:p>
          </p:txBody>
        </p:sp>
        <p:sp>
          <p:nvSpPr>
            <p:cNvPr id="15" name="25eca705-4601-40c7-a4d9-04d8def6deca"/>
            <p:cNvSpPr/>
            <p:nvPr/>
          </p:nvSpPr>
          <p:spPr>
            <a:xfrm>
              <a:off x="581025" y="504825"/>
              <a:ext cx="1586875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50" dirty="0">
                  <a:solidFill>
                    <a:srgbClr val="000000"/>
                  </a:solidFill>
                  <a:latin typeface="+mj-lt"/>
                  <a:ea typeface="Lexend" pitchFamily="34" charset="-122"/>
                  <a:cs typeface="Lexend" pitchFamily="34" charset="-120"/>
                </a:rPr>
                <a:t>ARCHITECTURAL STATE</a:t>
              </a:r>
              <a:endParaRPr lang="en-US" sz="900" dirty="0">
                <a:latin typeface="+mj-lt"/>
              </a:endParaRPr>
            </a:p>
          </p:txBody>
        </p:sp>
      </p:grpSp>
      <p:sp>
        <p:nvSpPr>
          <p:cNvPr id="3" name="8824c6ba-d7b2-4667-94d5-2c9983a5b313"/>
          <p:cNvSpPr/>
          <p:nvPr/>
        </p:nvSpPr>
        <p:spPr>
          <a:xfrm>
            <a:off x="457200" y="781050"/>
            <a:ext cx="11315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kern="0" spc="-70" dirty="0">
                <a:solidFill>
                  <a:srgbClr val="000000"/>
                </a:solidFill>
                <a:latin typeface="+mj-lt"/>
                <a:ea typeface="Lexend" pitchFamily="34" charset="-122"/>
                <a:cs typeface="Lexend" pitchFamily="34" charset="-120"/>
              </a:rPr>
              <a:t>Register File and Data memory</a:t>
            </a:r>
            <a:endParaRPr lang="en-US" sz="2700" dirty="0">
              <a:latin typeface="+mj-lt"/>
            </a:endParaRPr>
          </a:p>
        </p:txBody>
      </p:sp>
      <p:sp>
        <p:nvSpPr>
          <p:cNvPr id="4" name="73ff461f-89d1-4ba8-83c7-9c44019d1732"/>
          <p:cNvSpPr/>
          <p:nvPr/>
        </p:nvSpPr>
        <p:spPr>
          <a:xfrm>
            <a:off x="457200" y="1238250"/>
            <a:ext cx="11315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40" dirty="0">
                <a:solidFill>
                  <a:srgbClr val="000000">
                    <a:alpha val="60000"/>
                  </a:srgbClr>
                </a:solidFill>
                <a:latin typeface="+mj-lt"/>
                <a:ea typeface="Lexend" pitchFamily="34" charset="-122"/>
                <a:cs typeface="Lexend" pitchFamily="34" charset="-120"/>
              </a:rPr>
              <a:t>Internal State</a:t>
            </a:r>
            <a:endParaRPr lang="en-US" sz="1500" dirty="0">
              <a:latin typeface="+mj-lt"/>
            </a:endParaRPr>
          </a:p>
        </p:txBody>
      </p:sp>
      <p:sp>
        <p:nvSpPr>
          <p:cNvPr id="6" name="boxes-marker-57228347-c903-4cce-88c2-eb73561ccd14"/>
          <p:cNvSpPr/>
          <p:nvPr/>
        </p:nvSpPr>
        <p:spPr>
          <a:xfrm>
            <a:off x="718344" y="4880706"/>
            <a:ext cx="433983" cy="433983"/>
          </a:xfrm>
          <a:prstGeom prst="roundRect">
            <a:avLst>
              <a:gd name="adj" fmla="val 29630"/>
            </a:avLst>
          </a:prstGeom>
          <a:solidFill>
            <a:srgbClr val="858E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801" y="4963163"/>
            <a:ext cx="269069" cy="2690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8344" y="5470817"/>
            <a:ext cx="4953000" cy="21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>
              <a:lnSpc>
                <a:spcPts val="1686"/>
              </a:lnSpc>
            </a:pPr>
            <a:r>
              <a:rPr lang="en-US" sz="1600" b="1" dirty="0">
                <a:latin typeface="+mj-lt"/>
              </a:rPr>
              <a:t>Register File (R0-R3)</a:t>
            </a:r>
            <a:endParaRPr lang="en-US" sz="1519" dirty="0">
              <a:latin typeface="+mj-lt"/>
            </a:endParaRPr>
          </a:p>
        </p:txBody>
      </p:sp>
      <p:sp>
        <p:nvSpPr>
          <p:cNvPr id="9" name="Text 6"/>
          <p:cNvSpPr/>
          <p:nvPr/>
        </p:nvSpPr>
        <p:spPr>
          <a:xfrm>
            <a:off x="718344" y="5654804"/>
            <a:ext cx="4781948" cy="844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latin typeface="+mj-lt"/>
              </a:rPr>
              <a:t>4-bit fast temporary storage.</a:t>
            </a:r>
          </a:p>
          <a:p>
            <a:pPr lvl="0"/>
            <a:r>
              <a:rPr lang="en-US" sz="1400" i="1" dirty="0">
                <a:latin typeface="+mj-lt"/>
              </a:rPr>
              <a:t>   -Read:</a:t>
            </a:r>
            <a:r>
              <a:rPr lang="en-US" sz="1400" dirty="0">
                <a:latin typeface="+mj-lt"/>
              </a:rPr>
              <a:t> Asynchronous (Instant access).</a:t>
            </a:r>
          </a:p>
          <a:p>
            <a:pPr lvl="0"/>
            <a:r>
              <a:rPr lang="en-US" sz="1400" i="1" dirty="0">
                <a:latin typeface="+mj-lt"/>
              </a:rPr>
              <a:t>   -Write:</a:t>
            </a:r>
            <a:r>
              <a:rPr lang="en-US" sz="1400" dirty="0">
                <a:latin typeface="+mj-lt"/>
              </a:rPr>
              <a:t> Synchronous (Waits for clock edge).</a:t>
            </a:r>
          </a:p>
        </p:txBody>
      </p:sp>
      <p:sp>
        <p:nvSpPr>
          <p:cNvPr id="11" name="boxes-marker-04f36f60-c9b5-4977-b632-cece817b9498"/>
          <p:cNvSpPr/>
          <p:nvPr/>
        </p:nvSpPr>
        <p:spPr>
          <a:xfrm>
            <a:off x="6638734" y="4886073"/>
            <a:ext cx="433983" cy="433983"/>
          </a:xfrm>
          <a:prstGeom prst="roundRect">
            <a:avLst>
              <a:gd name="adj" fmla="val 29630"/>
            </a:avLst>
          </a:prstGeom>
          <a:solidFill>
            <a:srgbClr val="FFB093"/>
          </a:solidFill>
          <a:ln w="12700">
            <a:solidFill>
              <a:srgbClr val="FFB0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1191" y="4968530"/>
            <a:ext cx="269069" cy="2690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32775" y="5441642"/>
            <a:ext cx="4390167" cy="21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latin typeface="+mj-lt"/>
              </a:rPr>
              <a:t>Data Memory (RAM)</a:t>
            </a:r>
          </a:p>
        </p:txBody>
      </p:sp>
      <p:sp>
        <p:nvSpPr>
          <p:cNvPr id="14" name="Text 10"/>
          <p:cNvSpPr/>
          <p:nvPr/>
        </p:nvSpPr>
        <p:spPr>
          <a:xfrm>
            <a:off x="6632775" y="5720034"/>
            <a:ext cx="4530526" cy="43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350" dirty="0">
                <a:latin typeface="+mj-lt"/>
              </a:rPr>
              <a:t>4-bit memory for long-term variables (Controlled by Mem_WE).</a:t>
            </a:r>
          </a:p>
        </p:txBody>
      </p:sp>
    </p:spTree>
    <p:extLst>
      <p:ext uri="{BB962C8B-B14F-4D97-AF65-F5344CB8AC3E}">
        <p14:creationId xmlns:p14="http://schemas.microsoft.com/office/powerpoint/2010/main" val="1566236289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 tmFilter="0,0; 0.25,0.578; 0.5,0.875; 0.75,0.984; 1,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 tmFilter="0,0; 0.25,0.578; 0.5,0.875; 0.75,0.984; 1,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28DE9A54-5729-2BDC-E4CF-72CCED661EDC}"/>
              </a:ext>
            </a:extLst>
          </p:cNvPr>
          <p:cNvGrpSpPr/>
          <p:nvPr/>
        </p:nvGrpSpPr>
        <p:grpSpPr>
          <a:xfrm>
            <a:off x="4277718" y="4478346"/>
            <a:ext cx="3674664" cy="1860550"/>
            <a:chOff x="3371850" y="1831974"/>
            <a:chExt cx="3674664" cy="1860550"/>
          </a:xfrm>
        </p:grpSpPr>
        <p:sp>
          <p:nvSpPr>
            <p:cNvPr id="30" name="boxes-card-5c319934-48f8-4199-bb6e-fc3e33ca3148">
              <a:extLst>
                <a:ext uri="{FF2B5EF4-FFF2-40B4-BE49-F238E27FC236}">
                  <a16:creationId xmlns:a16="http://schemas.microsoft.com/office/drawing/2014/main" id="{BB19D735-F7D1-E4BC-7BC1-D24E240B9AA7}"/>
                </a:ext>
              </a:extLst>
            </p:cNvPr>
            <p:cNvSpPr/>
            <p:nvPr/>
          </p:nvSpPr>
          <p:spPr>
            <a:xfrm>
              <a:off x="3371850" y="1831974"/>
              <a:ext cx="3674664" cy="1860550"/>
            </a:xfrm>
            <a:prstGeom prst="roundRect">
              <a:avLst>
                <a:gd name="adj" fmla="val 16127"/>
              </a:avLst>
            </a:prstGeom>
            <a:solidFill>
              <a:srgbClr val="FFFFFF"/>
            </a:solidFill>
            <a:ln w="12700">
              <a:solidFill>
                <a:srgbClr val="858E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" name="Flowchart: Alternate Process 30">
              <a:extLst>
                <a:ext uri="{FF2B5EF4-FFF2-40B4-BE49-F238E27FC236}">
                  <a16:creationId xmlns:a16="http://schemas.microsoft.com/office/drawing/2014/main" id="{9F7ED07B-18CB-DF6D-DFAF-F8C297E1B76A}"/>
                </a:ext>
              </a:extLst>
            </p:cNvPr>
            <p:cNvSpPr/>
            <p:nvPr/>
          </p:nvSpPr>
          <p:spPr>
            <a:xfrm>
              <a:off x="3371850" y="1831975"/>
              <a:ext cx="3674664" cy="1860549"/>
            </a:xfrm>
            <a:prstGeom prst="flowChartAlternateProcess">
              <a:avLst/>
            </a:prstGeom>
            <a:noFill/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pic>
        <p:nvPicPr>
          <p:cNvPr id="23" name="slide-085768df-e795-4956-8543-e11ac8470514-0::bg-accent" descr="preencoded.png">
            <a:extLst>
              <a:ext uri="{FF2B5EF4-FFF2-40B4-BE49-F238E27FC236}">
                <a16:creationId xmlns:a16="http://schemas.microsoft.com/office/drawing/2014/main" id="{D257C909-C2AE-D22C-AD10-FF27501BA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286000"/>
            <a:ext cx="7315200" cy="731520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BF8846E-C61C-21CD-F2AB-34C31419BB28}"/>
              </a:ext>
            </a:extLst>
          </p:cNvPr>
          <p:cNvGrpSpPr/>
          <p:nvPr/>
        </p:nvGrpSpPr>
        <p:grpSpPr>
          <a:xfrm>
            <a:off x="8117286" y="4478346"/>
            <a:ext cx="3674664" cy="1860550"/>
            <a:chOff x="3371850" y="1831974"/>
            <a:chExt cx="3674664" cy="1860550"/>
          </a:xfrm>
        </p:grpSpPr>
        <p:sp>
          <p:nvSpPr>
            <p:cNvPr id="27" name="boxes-card-5c319934-48f8-4199-bb6e-fc3e33ca3148">
              <a:extLst>
                <a:ext uri="{FF2B5EF4-FFF2-40B4-BE49-F238E27FC236}">
                  <a16:creationId xmlns:a16="http://schemas.microsoft.com/office/drawing/2014/main" id="{D13800BD-DB2C-19E4-DF81-C7709E1345E0}"/>
                </a:ext>
              </a:extLst>
            </p:cNvPr>
            <p:cNvSpPr/>
            <p:nvPr/>
          </p:nvSpPr>
          <p:spPr>
            <a:xfrm>
              <a:off x="3371850" y="1831974"/>
              <a:ext cx="3674664" cy="1860550"/>
            </a:xfrm>
            <a:prstGeom prst="roundRect">
              <a:avLst>
                <a:gd name="adj" fmla="val 16127"/>
              </a:avLst>
            </a:prstGeom>
            <a:solidFill>
              <a:srgbClr val="FFFFFF"/>
            </a:solidFill>
            <a:ln w="12700">
              <a:solidFill>
                <a:srgbClr val="858E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" name="Flowchart: Alternate Process 27">
              <a:extLst>
                <a:ext uri="{FF2B5EF4-FFF2-40B4-BE49-F238E27FC236}">
                  <a16:creationId xmlns:a16="http://schemas.microsoft.com/office/drawing/2014/main" id="{EB2B23E7-8C3F-1ABB-B5DB-7510EE8E5BAE}"/>
                </a:ext>
              </a:extLst>
            </p:cNvPr>
            <p:cNvSpPr/>
            <p:nvPr/>
          </p:nvSpPr>
          <p:spPr>
            <a:xfrm>
              <a:off x="3371850" y="1831975"/>
              <a:ext cx="3674664" cy="1860549"/>
            </a:xfrm>
            <a:prstGeom prst="flowChartAlternateProcess">
              <a:avLst/>
            </a:prstGeom>
            <a:noFill/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B4381B6-738A-346B-180A-44903DE3ADF0}"/>
              </a:ext>
            </a:extLst>
          </p:cNvPr>
          <p:cNvGrpSpPr/>
          <p:nvPr/>
        </p:nvGrpSpPr>
        <p:grpSpPr>
          <a:xfrm>
            <a:off x="418357" y="4478346"/>
            <a:ext cx="3674664" cy="1860550"/>
            <a:chOff x="3371850" y="1831974"/>
            <a:chExt cx="3674664" cy="1860550"/>
          </a:xfrm>
        </p:grpSpPr>
        <p:sp>
          <p:nvSpPr>
            <p:cNvPr id="5" name="boxes-card-5c319934-48f8-4199-bb6e-fc3e33ca3148"/>
            <p:cNvSpPr/>
            <p:nvPr/>
          </p:nvSpPr>
          <p:spPr>
            <a:xfrm>
              <a:off x="3371850" y="1831974"/>
              <a:ext cx="3674664" cy="1860550"/>
            </a:xfrm>
            <a:prstGeom prst="roundRect">
              <a:avLst>
                <a:gd name="adj" fmla="val 16127"/>
              </a:avLst>
            </a:prstGeom>
            <a:solidFill>
              <a:srgbClr val="FFFFFF"/>
            </a:solidFill>
            <a:ln w="12700">
              <a:solidFill>
                <a:srgbClr val="858E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" name="Flowchart: Alternate Process 23">
              <a:extLst>
                <a:ext uri="{FF2B5EF4-FFF2-40B4-BE49-F238E27FC236}">
                  <a16:creationId xmlns:a16="http://schemas.microsoft.com/office/drawing/2014/main" id="{00CB1C55-C2D3-D5D4-4D27-8D167E8CF053}"/>
                </a:ext>
              </a:extLst>
            </p:cNvPr>
            <p:cNvSpPr/>
            <p:nvPr/>
          </p:nvSpPr>
          <p:spPr>
            <a:xfrm>
              <a:off x="3371850" y="1831975"/>
              <a:ext cx="3674664" cy="1860549"/>
            </a:xfrm>
            <a:prstGeom prst="flowChartAlternateProcess">
              <a:avLst/>
            </a:prstGeom>
            <a:noFill/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grpSp>
        <p:nvGrpSpPr>
          <p:cNvPr id="21" name="group-Cpd66TywPK0nSB9CIDN6Z"/>
          <p:cNvGrpSpPr/>
          <p:nvPr/>
        </p:nvGrpSpPr>
        <p:grpSpPr>
          <a:xfrm>
            <a:off x="457200" y="457200"/>
            <a:ext cx="1752600" cy="247650"/>
            <a:chOff x="457200" y="457200"/>
            <a:chExt cx="1752600" cy="247650"/>
          </a:xfrm>
        </p:grpSpPr>
        <p:sp>
          <p:nvSpPr>
            <p:cNvPr id="2" name="b1478d95-005e-444b-ade4-71b237ad48e1"/>
            <p:cNvSpPr/>
            <p:nvPr/>
          </p:nvSpPr>
          <p:spPr>
            <a:xfrm>
              <a:off x="457200" y="457200"/>
              <a:ext cx="1752600" cy="247650"/>
            </a:xfrm>
            <a:prstGeom prst="roundRect">
              <a:avLst>
                <a:gd name="adj" fmla="val 50000"/>
              </a:avLst>
            </a:prstGeom>
            <a:solidFill>
              <a:srgbClr val="EDEEFF"/>
            </a:solidFill>
            <a:ln w="9525">
              <a:solidFill>
                <a:srgbClr val="DADDFF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>
                <a:latin typeface="+mj-lt"/>
              </a:endParaRPr>
            </a:p>
          </p:txBody>
        </p:sp>
        <p:sp>
          <p:nvSpPr>
            <p:cNvPr id="20" name="26beae4b-6afe-4e78-8085-d3dba8bc0511"/>
            <p:cNvSpPr/>
            <p:nvPr/>
          </p:nvSpPr>
          <p:spPr>
            <a:xfrm>
              <a:off x="581025" y="504825"/>
              <a:ext cx="1589847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50" dirty="0">
                  <a:solidFill>
                    <a:srgbClr val="000000"/>
                  </a:solidFill>
                  <a:latin typeface="+mj-lt"/>
                  <a:ea typeface="Lexend" pitchFamily="34" charset="-122"/>
                  <a:cs typeface="Lexend" pitchFamily="34" charset="-120"/>
                </a:rPr>
                <a:t>COMPUTATION ENGINE</a:t>
              </a:r>
              <a:endParaRPr lang="en-US" sz="900" dirty="0">
                <a:latin typeface="+mj-lt"/>
              </a:endParaRPr>
            </a:p>
          </p:txBody>
        </p:sp>
      </p:grpSp>
      <p:sp>
        <p:nvSpPr>
          <p:cNvPr id="3" name="c76915fe-5960-4e63-bf84-cf3deb677e6c"/>
          <p:cNvSpPr/>
          <p:nvPr/>
        </p:nvSpPr>
        <p:spPr>
          <a:xfrm>
            <a:off x="457200" y="781050"/>
            <a:ext cx="11315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kern="0" spc="-70" dirty="0">
                <a:solidFill>
                  <a:srgbClr val="000000"/>
                </a:solidFill>
                <a:latin typeface="+mj-lt"/>
                <a:ea typeface="Lexend" pitchFamily="34" charset="-122"/>
                <a:cs typeface="Lexend" pitchFamily="34" charset="-120"/>
              </a:rPr>
              <a:t>4-Bit ALU Arithmetic Operations</a:t>
            </a:r>
            <a:endParaRPr lang="en-US" sz="2700" dirty="0">
              <a:latin typeface="+mj-lt"/>
            </a:endParaRPr>
          </a:p>
        </p:txBody>
      </p:sp>
      <p:sp>
        <p:nvSpPr>
          <p:cNvPr id="4" name="37a691b5-5bba-4bab-865a-f2a564475286"/>
          <p:cNvSpPr/>
          <p:nvPr/>
        </p:nvSpPr>
        <p:spPr>
          <a:xfrm>
            <a:off x="457200" y="1238250"/>
            <a:ext cx="11315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40" dirty="0">
                <a:solidFill>
                  <a:srgbClr val="000000">
                    <a:alpha val="60000"/>
                  </a:srgbClr>
                </a:solidFill>
                <a:latin typeface="+mj-lt"/>
                <a:ea typeface="Lexend" pitchFamily="34" charset="-122"/>
                <a:cs typeface="Lexend" pitchFamily="34" charset="-120"/>
              </a:rPr>
              <a:t>Execution Core</a:t>
            </a:r>
            <a:endParaRPr lang="en-US" sz="1500" dirty="0">
              <a:latin typeface="+mj-lt"/>
            </a:endParaRPr>
          </a:p>
        </p:txBody>
      </p:sp>
      <p:sp>
        <p:nvSpPr>
          <p:cNvPr id="6" name="boxes-marker-5c319934-48f8-4199-bb6e-fc3e33ca3148"/>
          <p:cNvSpPr/>
          <p:nvPr/>
        </p:nvSpPr>
        <p:spPr>
          <a:xfrm>
            <a:off x="778526" y="4790450"/>
            <a:ext cx="427965" cy="427965"/>
          </a:xfrm>
          <a:prstGeom prst="roundRect">
            <a:avLst>
              <a:gd name="adj" fmla="val 29630"/>
            </a:avLst>
          </a:prstGeom>
          <a:solidFill>
            <a:srgbClr val="858E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839" y="4871763"/>
            <a:ext cx="265338" cy="2653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8526" y="5408621"/>
            <a:ext cx="3146312" cy="2111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lnSpc>
                <a:spcPts val="1662"/>
              </a:lnSpc>
              <a:buNone/>
            </a:pPr>
            <a:r>
              <a:rPr lang="en-US" sz="1498" dirty="0">
                <a:solidFill>
                  <a:srgbClr val="000000"/>
                </a:solidFill>
                <a:latin typeface="+mj-lt"/>
                <a:ea typeface="Lexend Black" pitchFamily="34" charset="-122"/>
                <a:cs typeface="Lexend Black" pitchFamily="34" charset="-120"/>
              </a:rPr>
              <a:t>Arithmetic</a:t>
            </a:r>
            <a:endParaRPr lang="en-US" sz="1498" dirty="0">
              <a:latin typeface="+mj-lt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8526" y="5683153"/>
            <a:ext cx="3146312" cy="4734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864"/>
              </a:lnSpc>
              <a:buNone/>
            </a:pPr>
            <a:r>
              <a:rPr lang="en-US" sz="1331" dirty="0">
                <a:solidFill>
                  <a:srgbClr val="000000"/>
                </a:solidFill>
                <a:latin typeface="+mj-lt"/>
                <a:ea typeface="Lexend" pitchFamily="34" charset="-122"/>
                <a:cs typeface="Lexend" pitchFamily="34" charset="-120"/>
              </a:rPr>
              <a:t>Computes 4-bit addition (Add) and subtraction (Sub).</a:t>
            </a:r>
            <a:endParaRPr lang="en-US" sz="1331" dirty="0">
              <a:latin typeface="+mj-lt"/>
            </a:endParaRPr>
          </a:p>
        </p:txBody>
      </p:sp>
      <p:sp>
        <p:nvSpPr>
          <p:cNvPr id="11" name="boxes-marker-fe10b354-af90-4a2d-9a47-05543fdee404"/>
          <p:cNvSpPr/>
          <p:nvPr/>
        </p:nvSpPr>
        <p:spPr>
          <a:xfrm>
            <a:off x="4579994" y="4790450"/>
            <a:ext cx="427965" cy="427965"/>
          </a:xfrm>
          <a:prstGeom prst="roundRect">
            <a:avLst>
              <a:gd name="adj" fmla="val 29630"/>
            </a:avLst>
          </a:prstGeom>
          <a:solidFill>
            <a:srgbClr val="858E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307" y="4871763"/>
            <a:ext cx="265338" cy="2653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9994" y="5408621"/>
            <a:ext cx="3146312" cy="2111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lnSpc>
                <a:spcPts val="1662"/>
              </a:lnSpc>
              <a:buNone/>
            </a:pPr>
            <a:r>
              <a:rPr lang="en-US" sz="1498" dirty="0">
                <a:solidFill>
                  <a:srgbClr val="000000"/>
                </a:solidFill>
                <a:latin typeface="+mj-lt"/>
                <a:ea typeface="Lexend Black" pitchFamily="34" charset="-122"/>
                <a:cs typeface="Lexend Black" pitchFamily="34" charset="-120"/>
              </a:rPr>
              <a:t>Logic Functions</a:t>
            </a:r>
            <a:endParaRPr lang="en-US" sz="1498" dirty="0">
              <a:latin typeface="+mj-lt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579994" y="5683153"/>
            <a:ext cx="3146312" cy="4734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864"/>
              </a:lnSpc>
              <a:buNone/>
            </a:pPr>
            <a:r>
              <a:rPr lang="en-US" sz="1331" dirty="0">
                <a:solidFill>
                  <a:srgbClr val="000000"/>
                </a:solidFill>
                <a:latin typeface="+mj-lt"/>
                <a:ea typeface="Lexend" pitchFamily="34" charset="-122"/>
                <a:cs typeface="Lexend" pitchFamily="34" charset="-120"/>
              </a:rPr>
              <a:t>Evaluates bitwise Boolean primitives (AND, OR, XOR).</a:t>
            </a:r>
            <a:endParaRPr lang="en-US" sz="1331" dirty="0">
              <a:latin typeface="+mj-lt"/>
            </a:endParaRPr>
          </a:p>
        </p:txBody>
      </p:sp>
      <p:sp>
        <p:nvSpPr>
          <p:cNvPr id="16" name="boxes-marker-755fb52c-cf15-4b5e-982d-e57285a1bed1"/>
          <p:cNvSpPr/>
          <p:nvPr/>
        </p:nvSpPr>
        <p:spPr>
          <a:xfrm>
            <a:off x="8381462" y="4790450"/>
            <a:ext cx="427965" cy="427965"/>
          </a:xfrm>
          <a:prstGeom prst="roundRect">
            <a:avLst>
              <a:gd name="adj" fmla="val 29630"/>
            </a:avLst>
          </a:prstGeom>
          <a:solidFill>
            <a:srgbClr val="FFB093"/>
          </a:solidFill>
          <a:ln w="12700">
            <a:solidFill>
              <a:srgbClr val="FFB0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2775" y="4871763"/>
            <a:ext cx="265338" cy="2653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1462" y="5408621"/>
            <a:ext cx="3146312" cy="2111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lnSpc>
                <a:spcPts val="1662"/>
              </a:lnSpc>
              <a:buNone/>
            </a:pPr>
            <a:r>
              <a:rPr lang="en-US" sz="1498" dirty="0">
                <a:solidFill>
                  <a:srgbClr val="000000"/>
                </a:solidFill>
                <a:latin typeface="+mj-lt"/>
                <a:ea typeface="Lexend Black" pitchFamily="34" charset="-122"/>
                <a:cs typeface="Lexend Black" pitchFamily="34" charset="-120"/>
              </a:rPr>
              <a:t>Flag Feedback</a:t>
            </a:r>
            <a:endParaRPr lang="en-US" sz="1498" dirty="0">
              <a:latin typeface="+mj-lt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381462" y="5683153"/>
            <a:ext cx="3146312" cy="4734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864"/>
              </a:lnSpc>
              <a:buNone/>
            </a:pPr>
            <a:r>
              <a:rPr lang="en-US" sz="1331" dirty="0">
                <a:solidFill>
                  <a:srgbClr val="000000"/>
                </a:solidFill>
                <a:latin typeface="+mj-lt"/>
                <a:ea typeface="Lexend" pitchFamily="34" charset="-122"/>
                <a:cs typeface="Lexend" pitchFamily="34" charset="-120"/>
              </a:rPr>
              <a:t>Dynamically asserts active carry-out and zero-detect indicators.</a:t>
            </a:r>
            <a:endParaRPr lang="en-US" sz="1331" dirty="0">
              <a:latin typeface="+mj-lt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E8ADD1C-FC03-C1F2-099D-F25B17B36B45}"/>
              </a:ext>
            </a:extLst>
          </p:cNvPr>
          <p:cNvGrpSpPr/>
          <p:nvPr/>
        </p:nvGrpSpPr>
        <p:grpSpPr>
          <a:xfrm>
            <a:off x="2170872" y="1504949"/>
            <a:ext cx="7315200" cy="2909994"/>
            <a:chOff x="3371850" y="1831974"/>
            <a:chExt cx="3674664" cy="1860550"/>
          </a:xfr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33" name="boxes-card-5c319934-48f8-4199-bb6e-fc3e33ca3148">
              <a:extLst>
                <a:ext uri="{FF2B5EF4-FFF2-40B4-BE49-F238E27FC236}">
                  <a16:creationId xmlns:a16="http://schemas.microsoft.com/office/drawing/2014/main" id="{6F64A520-4584-A6F7-5185-B411E7AFFE48}"/>
                </a:ext>
              </a:extLst>
            </p:cNvPr>
            <p:cNvSpPr/>
            <p:nvPr/>
          </p:nvSpPr>
          <p:spPr>
            <a:xfrm>
              <a:off x="3371850" y="1831974"/>
              <a:ext cx="3674664" cy="1860550"/>
            </a:xfrm>
            <a:prstGeom prst="roundRect">
              <a:avLst>
                <a:gd name="adj" fmla="val 16127"/>
              </a:avLst>
            </a:prstGeom>
            <a:grpFill/>
            <a:ln w="12700">
              <a:solidFill>
                <a:srgbClr val="858E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" name="Flowchart: Alternate Process 33">
              <a:extLst>
                <a:ext uri="{FF2B5EF4-FFF2-40B4-BE49-F238E27FC236}">
                  <a16:creationId xmlns:a16="http://schemas.microsoft.com/office/drawing/2014/main" id="{F51BC7EA-D794-B463-B4D2-1A8443E2A8A6}"/>
                </a:ext>
              </a:extLst>
            </p:cNvPr>
            <p:cNvSpPr/>
            <p:nvPr/>
          </p:nvSpPr>
          <p:spPr>
            <a:xfrm>
              <a:off x="3371850" y="1831975"/>
              <a:ext cx="3674664" cy="1860549"/>
            </a:xfrm>
            <a:prstGeom prst="flowChartAlternateProcess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8829029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 tmFilter="0,0; 0.25,0.578; 0.5,0.875; 0.75,0.984; 1,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 tmFilter="0,0; 0.25,0.578; 0.5,0.875; 0.75,0.984; 1,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lide-085768df-e795-4956-8543-e11ac8470514-0::bg-accent" descr="preencoded.png">
            <a:extLst>
              <a:ext uri="{FF2B5EF4-FFF2-40B4-BE49-F238E27FC236}">
                <a16:creationId xmlns:a16="http://schemas.microsoft.com/office/drawing/2014/main" id="{F4EA9212-5178-A6AC-1ABB-8C1EAFC5A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286000"/>
            <a:ext cx="7315200" cy="7315200"/>
          </a:xfrm>
          <a:prstGeom prst="rect">
            <a:avLst/>
          </a:prstGeom>
        </p:spPr>
      </p:pic>
      <p:grpSp>
        <p:nvGrpSpPr>
          <p:cNvPr id="16" name="group-j-JKBcwIAuKhBMpc5MSE9"/>
          <p:cNvGrpSpPr/>
          <p:nvPr/>
        </p:nvGrpSpPr>
        <p:grpSpPr>
          <a:xfrm>
            <a:off x="457200" y="457200"/>
            <a:ext cx="1638300" cy="247650"/>
            <a:chOff x="457200" y="457200"/>
            <a:chExt cx="1638300" cy="247650"/>
          </a:xfrm>
        </p:grpSpPr>
        <p:sp>
          <p:nvSpPr>
            <p:cNvPr id="2" name="424c6ff4-d4b5-46db-8b35-ce4331ae7829"/>
            <p:cNvSpPr/>
            <p:nvPr/>
          </p:nvSpPr>
          <p:spPr>
            <a:xfrm>
              <a:off x="457200" y="457200"/>
              <a:ext cx="1638300" cy="247650"/>
            </a:xfrm>
            <a:prstGeom prst="roundRect">
              <a:avLst>
                <a:gd name="adj" fmla="val 50000"/>
              </a:avLst>
            </a:prstGeom>
            <a:solidFill>
              <a:srgbClr val="EDEEFF"/>
            </a:solidFill>
            <a:ln w="9525">
              <a:solidFill>
                <a:srgbClr val="DADDFF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>
                <a:latin typeface="+mj-lt"/>
              </a:endParaRPr>
            </a:p>
          </p:txBody>
        </p:sp>
        <p:sp>
          <p:nvSpPr>
            <p:cNvPr id="15" name="6b548478-4c26-4bbd-811a-0ce782368a49"/>
            <p:cNvSpPr/>
            <p:nvPr/>
          </p:nvSpPr>
          <p:spPr>
            <a:xfrm>
              <a:off x="581025" y="504825"/>
              <a:ext cx="1470745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50" dirty="0">
                  <a:solidFill>
                    <a:srgbClr val="000000"/>
                  </a:solidFill>
                  <a:latin typeface="+mj-lt"/>
                  <a:ea typeface="Lexend" pitchFamily="34" charset="-122"/>
                  <a:cs typeface="Lexend" pitchFamily="34" charset="-120"/>
                </a:rPr>
                <a:t>QUALITY ASSURANCE</a:t>
              </a:r>
              <a:endParaRPr lang="en-US" sz="900" dirty="0">
                <a:latin typeface="+mj-lt"/>
              </a:endParaRPr>
            </a:p>
          </p:txBody>
        </p:sp>
      </p:grpSp>
      <p:sp>
        <p:nvSpPr>
          <p:cNvPr id="3" name="f86c4039-2b98-4432-9c96-937176eee946"/>
          <p:cNvSpPr/>
          <p:nvPr/>
        </p:nvSpPr>
        <p:spPr>
          <a:xfrm>
            <a:off x="457200" y="781050"/>
            <a:ext cx="11315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kern="0" spc="-70" dirty="0">
                <a:solidFill>
                  <a:srgbClr val="000000"/>
                </a:solidFill>
                <a:latin typeface="+mj-lt"/>
                <a:ea typeface="Lexend" pitchFamily="34" charset="-122"/>
                <a:cs typeface="Lexend" pitchFamily="34" charset="-120"/>
              </a:rPr>
              <a:t>Testbench strategy</a:t>
            </a:r>
            <a:endParaRPr lang="en-US" sz="2700" dirty="0">
              <a:latin typeface="+mj-lt"/>
            </a:endParaRPr>
          </a:p>
        </p:txBody>
      </p:sp>
      <p:sp>
        <p:nvSpPr>
          <p:cNvPr id="4" name="84c5b640-49fa-45cb-8d43-420ee29e4240"/>
          <p:cNvSpPr/>
          <p:nvPr/>
        </p:nvSpPr>
        <p:spPr>
          <a:xfrm>
            <a:off x="457200" y="1238250"/>
            <a:ext cx="11315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40" dirty="0">
                <a:solidFill>
                  <a:srgbClr val="000000">
                    <a:alpha val="60000"/>
                  </a:srgbClr>
                </a:solidFill>
                <a:latin typeface="+mj-lt"/>
                <a:ea typeface="Lexend" pitchFamily="34" charset="-122"/>
                <a:cs typeface="Lexend" pitchFamily="34" charset="-120"/>
              </a:rPr>
              <a:t>Simulation Harness</a:t>
            </a:r>
            <a:endParaRPr lang="en-US" sz="1500" dirty="0">
              <a:latin typeface="+mj-lt"/>
            </a:endParaRPr>
          </a:p>
        </p:txBody>
      </p:sp>
      <p:sp>
        <p:nvSpPr>
          <p:cNvPr id="5" name="boxes-card-753b823e-42f6-4d4a-8d92-8bf1ea8340ca"/>
          <p:cNvSpPr/>
          <p:nvPr/>
        </p:nvSpPr>
        <p:spPr>
          <a:xfrm>
            <a:off x="392906" y="5099050"/>
            <a:ext cx="5574506" cy="1625600"/>
          </a:xfrm>
          <a:prstGeom prst="roundRect">
            <a:avLst>
              <a:gd name="adj" fmla="val 5294"/>
            </a:avLst>
          </a:prstGeom>
          <a:solidFill>
            <a:srgbClr val="E7E8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" name="boxes-marker-753b823e-42f6-4d4a-8d92-8bf1ea8340ca"/>
          <p:cNvSpPr/>
          <p:nvPr/>
        </p:nvSpPr>
        <p:spPr>
          <a:xfrm>
            <a:off x="516731" y="5209687"/>
            <a:ext cx="433983" cy="433983"/>
          </a:xfrm>
          <a:prstGeom prst="roundRect">
            <a:avLst>
              <a:gd name="adj" fmla="val 29630"/>
            </a:avLst>
          </a:prstGeom>
          <a:solidFill>
            <a:srgbClr val="858E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88" y="5292144"/>
            <a:ext cx="269069" cy="2690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6731" y="5836551"/>
            <a:ext cx="4953000" cy="21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lnSpc>
                <a:spcPts val="1686"/>
              </a:lnSpc>
              <a:buNone/>
            </a:pPr>
            <a:r>
              <a:rPr lang="en-US" sz="1519" dirty="0">
                <a:solidFill>
                  <a:srgbClr val="000000"/>
                </a:solidFill>
                <a:latin typeface="+mj-lt"/>
                <a:ea typeface="Lexend Black" pitchFamily="34" charset="-122"/>
                <a:cs typeface="Lexend Black" pitchFamily="34" charset="-120"/>
              </a:rPr>
              <a:t>Automated Stimulus</a:t>
            </a:r>
            <a:endParaRPr lang="en-US" sz="1519" dirty="0">
              <a:latin typeface="+mj-lt"/>
            </a:endParaRPr>
          </a:p>
        </p:txBody>
      </p:sp>
      <p:sp>
        <p:nvSpPr>
          <p:cNvPr id="9" name="Text 6"/>
          <p:cNvSpPr/>
          <p:nvPr/>
        </p:nvSpPr>
        <p:spPr>
          <a:xfrm>
            <a:off x="516731" y="6114943"/>
            <a:ext cx="4953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+mj-lt"/>
                <a:ea typeface="Lexend" pitchFamily="34" charset="-122"/>
                <a:cs typeface="Lexend" pitchFamily="34" charset="-120"/>
              </a:rPr>
              <a:t>Drives system clock, reset sequences, and assembled instruction streams.</a:t>
            </a:r>
            <a:endParaRPr lang="en-US" sz="1350" dirty="0">
              <a:latin typeface="+mj-lt"/>
            </a:endParaRPr>
          </a:p>
        </p:txBody>
      </p:sp>
      <p:sp>
        <p:nvSpPr>
          <p:cNvPr id="10" name="boxes-card-c5969cbd-d9da-43c7-9277-6fc3ff6253b0"/>
          <p:cNvSpPr/>
          <p:nvPr/>
        </p:nvSpPr>
        <p:spPr>
          <a:xfrm>
            <a:off x="6096000" y="5099050"/>
            <a:ext cx="5574506" cy="1625600"/>
          </a:xfrm>
          <a:prstGeom prst="roundRect">
            <a:avLst>
              <a:gd name="adj" fmla="val 5294"/>
            </a:avLst>
          </a:prstGeom>
          <a:solidFill>
            <a:srgbClr val="E7E8FF"/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1" name="boxes-marker-c5969cbd-d9da-43c7-9277-6fc3ff6253b0"/>
          <p:cNvSpPr/>
          <p:nvPr/>
        </p:nvSpPr>
        <p:spPr>
          <a:xfrm>
            <a:off x="6219825" y="5209687"/>
            <a:ext cx="433983" cy="433983"/>
          </a:xfrm>
          <a:prstGeom prst="roundRect">
            <a:avLst>
              <a:gd name="adj" fmla="val 29630"/>
            </a:avLst>
          </a:prstGeom>
          <a:solidFill>
            <a:srgbClr val="FFB093"/>
          </a:solidFill>
          <a:ln w="12700">
            <a:solidFill>
              <a:srgbClr val="FFB0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282" y="5292144"/>
            <a:ext cx="269069" cy="2690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19825" y="5836551"/>
            <a:ext cx="4953000" cy="21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lnSpc>
                <a:spcPts val="1686"/>
              </a:lnSpc>
              <a:buNone/>
            </a:pPr>
            <a:r>
              <a:rPr lang="en-US" sz="1519" dirty="0">
                <a:solidFill>
                  <a:srgbClr val="000000"/>
                </a:solidFill>
                <a:latin typeface="+mj-lt"/>
                <a:ea typeface="Lexend Black" pitchFamily="34" charset="-122"/>
                <a:cs typeface="Lexend Black" pitchFamily="34" charset="-120"/>
              </a:rPr>
              <a:t>Signal Tracing</a:t>
            </a:r>
            <a:endParaRPr lang="en-US" sz="1519" dirty="0">
              <a:latin typeface="+mj-lt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219825" y="6114943"/>
            <a:ext cx="4953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+mj-lt"/>
                <a:ea typeface="Lexend" pitchFamily="34" charset="-122"/>
                <a:cs typeface="Lexend" pitchFamily="34" charset="-120"/>
              </a:rPr>
              <a:t>Continuously monitors internal buses against architectural specification models.</a:t>
            </a:r>
            <a:endParaRPr lang="en-US" sz="1350" dirty="0">
              <a:latin typeface="+mj-l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62F794D-7ADF-5CF9-DC5F-0D111080F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650" y="1594790"/>
            <a:ext cx="4456700" cy="35042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3648EDC-51AB-15CB-0DA3-2C144503EA7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848132" y="2345338"/>
            <a:ext cx="7107046" cy="266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958102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 tmFilter="0,0; 0.25,0.578; 0.5,0.875; 0.75,0.984; 1,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 tmFilter="0,0; 0.25,0.578; 0.5,0.875; 0.75,0.984; 1,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 tmFilter="0,0; 0.25,0.578; 0.5,0.875; 0.75,0.984; 1,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 tmFilter="0,0; 0.25,0.578; 0.5,0.875; 0.75,0.984; 1,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lide-085768df-e795-4956-8543-e11ac8470514-0::bg-accent" descr="preencoded.png">
            <a:extLst>
              <a:ext uri="{FF2B5EF4-FFF2-40B4-BE49-F238E27FC236}">
                <a16:creationId xmlns:a16="http://schemas.microsoft.com/office/drawing/2014/main" id="{78FC7EFB-D341-2C61-B7F2-C295E77C4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286000"/>
            <a:ext cx="7315200" cy="7315200"/>
          </a:xfrm>
          <a:prstGeom prst="rect">
            <a:avLst/>
          </a:prstGeom>
        </p:spPr>
      </p:pic>
      <p:grpSp>
        <p:nvGrpSpPr>
          <p:cNvPr id="13" name="group-2NscEfdL0fhMRS6hip8Mf"/>
          <p:cNvGrpSpPr/>
          <p:nvPr/>
        </p:nvGrpSpPr>
        <p:grpSpPr>
          <a:xfrm>
            <a:off x="457199" y="2147888"/>
            <a:ext cx="11442701" cy="3179762"/>
            <a:chOff x="457200" y="2781300"/>
            <a:chExt cx="11277600" cy="1790700"/>
          </a:xfrm>
        </p:grpSpPr>
        <p:sp>
          <p:nvSpPr>
            <p:cNvPr id="2" name="a290389f-94aa-4076-9f0e-01f9ec37df3a"/>
            <p:cNvSpPr/>
            <p:nvPr/>
          </p:nvSpPr>
          <p:spPr>
            <a:xfrm>
              <a:off x="457200" y="2781300"/>
              <a:ext cx="11277600" cy="1790700"/>
            </a:xfrm>
            <a:prstGeom prst="roundRect">
              <a:avLst>
                <a:gd name="adj" fmla="val 8511"/>
              </a:avLst>
            </a:prstGeom>
            <a:solidFill>
              <a:srgbClr val="F3F3F3"/>
            </a:solidFill>
            <a:ln w="9525">
              <a:solidFill>
                <a:srgbClr val="E5E5E5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>
                <a:latin typeface="+mj-lt"/>
              </a:endParaRPr>
            </a:p>
          </p:txBody>
        </p:sp>
        <p:sp>
          <p:nvSpPr>
            <p:cNvPr id="7" name="f2fe3e98-2e25-4f87-bda5-2c13b366483f"/>
            <p:cNvSpPr/>
            <p:nvPr/>
          </p:nvSpPr>
          <p:spPr>
            <a:xfrm>
              <a:off x="504825" y="2828925"/>
              <a:ext cx="11182350" cy="1695450"/>
            </a:xfrm>
            <a:prstGeom prst="rect">
              <a:avLst/>
            </a:prstGeom>
            <a:solidFill>
              <a:srgbClr val="F3F3F3"/>
            </a:solidFill>
            <a:ln/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grpSp>
        <p:nvGrpSpPr>
          <p:cNvPr id="14" name="group-mIlsQpUk12iWBXZLpVOZ_"/>
          <p:cNvGrpSpPr/>
          <p:nvPr/>
        </p:nvGrpSpPr>
        <p:grpSpPr>
          <a:xfrm>
            <a:off x="552456" y="5616575"/>
            <a:ext cx="11277600" cy="552450"/>
            <a:chOff x="457200" y="5848350"/>
            <a:chExt cx="11277600" cy="552450"/>
          </a:xfrm>
        </p:grpSpPr>
        <p:sp>
          <p:nvSpPr>
            <p:cNvPr id="3" name="19609778-d290-4097-88b2-755a154a0178"/>
            <p:cNvSpPr/>
            <p:nvPr/>
          </p:nvSpPr>
          <p:spPr>
            <a:xfrm>
              <a:off x="457200" y="5848350"/>
              <a:ext cx="11277600" cy="552450"/>
            </a:xfrm>
            <a:prstGeom prst="roundRect">
              <a:avLst>
                <a:gd name="adj" fmla="val 20690"/>
              </a:avLst>
            </a:prstGeom>
            <a:solidFill>
              <a:srgbClr val="8989FF">
                <a:alpha val="10000"/>
              </a:srgbClr>
            </a:solidFill>
            <a:ln w="9525">
              <a:solidFill>
                <a:srgbClr val="E7E8FF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>
                <a:latin typeface="+mj-lt"/>
              </a:endParaRPr>
            </a:p>
          </p:txBody>
        </p:sp>
        <p:sp>
          <p:nvSpPr>
            <p:cNvPr id="9" name="eccf3be3-58d6-48ed-be1d-31f347894064"/>
            <p:cNvSpPr/>
            <p:nvPr/>
          </p:nvSpPr>
          <p:spPr>
            <a:xfrm>
              <a:off x="695325" y="6076950"/>
              <a:ext cx="95250" cy="95250"/>
            </a:xfrm>
            <a:prstGeom prst="ellipse">
              <a:avLst/>
            </a:prstGeom>
            <a:solidFill>
              <a:srgbClr val="858EFF"/>
            </a:solidFill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>
                <a:latin typeface="+mj-lt"/>
              </a:endParaRPr>
            </a:p>
          </p:txBody>
        </p:sp>
        <p:sp>
          <p:nvSpPr>
            <p:cNvPr id="10" name="6ce23dbf-d998-411a-aadd-580a60756c44"/>
            <p:cNvSpPr/>
            <p:nvPr/>
          </p:nvSpPr>
          <p:spPr>
            <a:xfrm>
              <a:off x="904875" y="6010275"/>
              <a:ext cx="7858125" cy="228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00000"/>
                  </a:solidFill>
                  <a:latin typeface="+mj-lt"/>
                  <a:ea typeface="Lexend" pitchFamily="34" charset="-122"/>
                  <a:cs typeface="Lexend" pitchFamily="34" charset="-120"/>
                </a:rPr>
                <a:t>Confirms </a:t>
              </a:r>
              <a:r>
                <a:rPr lang="en-US" sz="1200" b="1" dirty="0">
                  <a:solidFill>
                    <a:srgbClr val="000000"/>
                  </a:solidFill>
                  <a:latin typeface="+mj-lt"/>
                  <a:ea typeface="Lexend" pitchFamily="34" charset="-122"/>
                  <a:cs typeface="Lexend" pitchFamily="34" charset="-120"/>
                </a:rPr>
                <a:t>cycle-by-cycle</a:t>
              </a:r>
              <a:r>
                <a:rPr lang="en-US" sz="1200" dirty="0">
                  <a:solidFill>
                    <a:srgbClr val="000000"/>
                  </a:solidFill>
                  <a:latin typeface="+mj-lt"/>
                  <a:ea typeface="Lexend" pitchFamily="34" charset="-122"/>
                  <a:cs typeface="Lexend" pitchFamily="34" charset="-120"/>
                </a:rPr>
                <a:t> correctness across PC advancement, datapath computations, and flag assertion.</a:t>
              </a:r>
              <a:endParaRPr lang="en-US" sz="1200" dirty="0">
                <a:latin typeface="+mj-lt"/>
              </a:endParaRPr>
            </a:p>
          </p:txBody>
        </p:sp>
      </p:grpSp>
      <p:grpSp>
        <p:nvGrpSpPr>
          <p:cNvPr id="12" name="group-Fs-o8AnaPQ2VhIQKPl6WR"/>
          <p:cNvGrpSpPr/>
          <p:nvPr/>
        </p:nvGrpSpPr>
        <p:grpSpPr>
          <a:xfrm>
            <a:off x="457200" y="457200"/>
            <a:ext cx="1828800" cy="247650"/>
            <a:chOff x="457200" y="457200"/>
            <a:chExt cx="1828800" cy="247650"/>
          </a:xfrm>
        </p:grpSpPr>
        <p:sp>
          <p:nvSpPr>
            <p:cNvPr id="4" name="1cb71d07-8ca2-45ba-bef7-45e604390ff2"/>
            <p:cNvSpPr/>
            <p:nvPr/>
          </p:nvSpPr>
          <p:spPr>
            <a:xfrm>
              <a:off x="457200" y="457200"/>
              <a:ext cx="1828800" cy="247650"/>
            </a:xfrm>
            <a:prstGeom prst="roundRect">
              <a:avLst>
                <a:gd name="adj" fmla="val 50000"/>
              </a:avLst>
            </a:prstGeom>
            <a:solidFill>
              <a:srgbClr val="EDEEFF"/>
            </a:solidFill>
            <a:ln w="9525">
              <a:solidFill>
                <a:srgbClr val="DADDFF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>
                <a:latin typeface="+mj-lt"/>
              </a:endParaRPr>
            </a:p>
          </p:txBody>
        </p:sp>
        <p:sp>
          <p:nvSpPr>
            <p:cNvPr id="8" name="00bae557-df7b-42a0-82d5-5b5695a36fec"/>
            <p:cNvSpPr/>
            <p:nvPr/>
          </p:nvSpPr>
          <p:spPr>
            <a:xfrm>
              <a:off x="581025" y="504825"/>
              <a:ext cx="1668372" cy="1524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50" dirty="0">
                  <a:solidFill>
                    <a:srgbClr val="000000"/>
                  </a:solidFill>
                  <a:latin typeface="+mj-lt"/>
                  <a:ea typeface="Lexend" pitchFamily="34" charset="-122"/>
                  <a:cs typeface="Lexend" pitchFamily="34" charset="-120"/>
                </a:rPr>
                <a:t>EMPIRICAL VALIDATION</a:t>
              </a:r>
              <a:endParaRPr lang="en-US" sz="900" dirty="0">
                <a:latin typeface="+mj-lt"/>
              </a:endParaRPr>
            </a:p>
          </p:txBody>
        </p:sp>
      </p:grpSp>
      <p:sp>
        <p:nvSpPr>
          <p:cNvPr id="5" name="c5e3576b-021c-4217-9098-5eec8fe329c9"/>
          <p:cNvSpPr/>
          <p:nvPr/>
        </p:nvSpPr>
        <p:spPr>
          <a:xfrm>
            <a:off x="457200" y="781050"/>
            <a:ext cx="11315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700" b="1" kern="0" spc="-70" dirty="0">
                <a:solidFill>
                  <a:srgbClr val="000000"/>
                </a:solidFill>
                <a:latin typeface="+mj-lt"/>
                <a:ea typeface="Lexend" pitchFamily="34" charset="-122"/>
                <a:cs typeface="Lexend" pitchFamily="34" charset="-120"/>
              </a:rPr>
              <a:t>Simulation Results and Truth Table Analysis</a:t>
            </a:r>
            <a:endParaRPr lang="en-US" sz="2700" dirty="0">
              <a:latin typeface="+mj-lt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5B09230-5CAE-265D-4B3D-C3019FF3D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809842"/>
              </p:ext>
            </p:extLst>
          </p:nvPr>
        </p:nvGraphicFramePr>
        <p:xfrm>
          <a:off x="504825" y="2204327"/>
          <a:ext cx="11325231" cy="28618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8359">
                  <a:extLst>
                    <a:ext uri="{9D8B030D-6E8A-4147-A177-3AD203B41FA5}">
                      <a16:colId xmlns:a16="http://schemas.microsoft.com/office/drawing/2014/main" val="2468133368"/>
                    </a:ext>
                  </a:extLst>
                </a:gridCol>
                <a:gridCol w="1258359">
                  <a:extLst>
                    <a:ext uri="{9D8B030D-6E8A-4147-A177-3AD203B41FA5}">
                      <a16:colId xmlns:a16="http://schemas.microsoft.com/office/drawing/2014/main" val="1719225614"/>
                    </a:ext>
                  </a:extLst>
                </a:gridCol>
                <a:gridCol w="1258359">
                  <a:extLst>
                    <a:ext uri="{9D8B030D-6E8A-4147-A177-3AD203B41FA5}">
                      <a16:colId xmlns:a16="http://schemas.microsoft.com/office/drawing/2014/main" val="3392158173"/>
                    </a:ext>
                  </a:extLst>
                </a:gridCol>
                <a:gridCol w="1258359">
                  <a:extLst>
                    <a:ext uri="{9D8B030D-6E8A-4147-A177-3AD203B41FA5}">
                      <a16:colId xmlns:a16="http://schemas.microsoft.com/office/drawing/2014/main" val="787219231"/>
                    </a:ext>
                  </a:extLst>
                </a:gridCol>
                <a:gridCol w="1258359">
                  <a:extLst>
                    <a:ext uri="{9D8B030D-6E8A-4147-A177-3AD203B41FA5}">
                      <a16:colId xmlns:a16="http://schemas.microsoft.com/office/drawing/2014/main" val="1681176823"/>
                    </a:ext>
                  </a:extLst>
                </a:gridCol>
                <a:gridCol w="1258359">
                  <a:extLst>
                    <a:ext uri="{9D8B030D-6E8A-4147-A177-3AD203B41FA5}">
                      <a16:colId xmlns:a16="http://schemas.microsoft.com/office/drawing/2014/main" val="3565587452"/>
                    </a:ext>
                  </a:extLst>
                </a:gridCol>
                <a:gridCol w="1258359">
                  <a:extLst>
                    <a:ext uri="{9D8B030D-6E8A-4147-A177-3AD203B41FA5}">
                      <a16:colId xmlns:a16="http://schemas.microsoft.com/office/drawing/2014/main" val="3684022989"/>
                    </a:ext>
                  </a:extLst>
                </a:gridCol>
                <a:gridCol w="1258359">
                  <a:extLst>
                    <a:ext uri="{9D8B030D-6E8A-4147-A177-3AD203B41FA5}">
                      <a16:colId xmlns:a16="http://schemas.microsoft.com/office/drawing/2014/main" val="169942476"/>
                    </a:ext>
                  </a:extLst>
                </a:gridCol>
                <a:gridCol w="1258359">
                  <a:extLst>
                    <a:ext uri="{9D8B030D-6E8A-4147-A177-3AD203B41FA5}">
                      <a16:colId xmlns:a16="http://schemas.microsoft.com/office/drawing/2014/main" val="151980691"/>
                    </a:ext>
                  </a:extLst>
                </a:gridCol>
              </a:tblGrid>
              <a:tr h="268352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Cycle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PC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Hex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Assembly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ALU Out / WB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R1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R2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Zero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Carry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extLst>
                  <a:ext uri="{0D108BD9-81ED-4DB2-BD59-A6C34878D82A}">
                    <a16:rowId xmlns:a16="http://schemas.microsoft.com/office/drawing/2014/main" val="4208656611"/>
                  </a:ext>
                </a:extLst>
              </a:tr>
              <a:tr h="15737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1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1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683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LDI R2, 3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X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X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X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extLst>
                  <a:ext uri="{0D108BD9-81ED-4DB2-BD59-A6C34878D82A}">
                    <a16:rowId xmlns:a16="http://schemas.microsoft.com/office/drawing/2014/main" val="169556132"/>
                  </a:ext>
                </a:extLst>
              </a:tr>
              <a:tr h="15737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2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2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060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ADD R1, R2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5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X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X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X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X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extLst>
                  <a:ext uri="{0D108BD9-81ED-4DB2-BD59-A6C34878D82A}">
                    <a16:rowId xmlns:a16="http://schemas.microsoft.com/office/drawing/2014/main" val="2956766693"/>
                  </a:ext>
                </a:extLst>
              </a:tr>
              <a:tr h="15737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3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3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160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SUB R1, R2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3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5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X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X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X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extLst>
                  <a:ext uri="{0D108BD9-81ED-4DB2-BD59-A6C34878D82A}">
                    <a16:rowId xmlns:a16="http://schemas.microsoft.com/office/drawing/2014/main" val="316289800"/>
                  </a:ext>
                </a:extLst>
              </a:tr>
              <a:tr h="15737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4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4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260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AND R1, R2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8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5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3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X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X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extLst>
                  <a:ext uri="{0D108BD9-81ED-4DB2-BD59-A6C34878D82A}">
                    <a16:rowId xmlns:a16="http://schemas.microsoft.com/office/drawing/2014/main" val="3146960449"/>
                  </a:ext>
                </a:extLst>
              </a:tr>
              <a:tr h="15737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5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5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360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OR R1, R2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5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8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3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extLst>
                  <a:ext uri="{0D108BD9-81ED-4DB2-BD59-A6C34878D82A}">
                    <a16:rowId xmlns:a16="http://schemas.microsoft.com/office/drawing/2014/main" val="3568286606"/>
                  </a:ext>
                </a:extLst>
              </a:tr>
              <a:tr h="15737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6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6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460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XOR R1, R2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1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5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3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1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extLst>
                  <a:ext uri="{0D108BD9-81ED-4DB2-BD59-A6C34878D82A}">
                    <a16:rowId xmlns:a16="http://schemas.microsoft.com/office/drawing/2014/main" val="887221941"/>
                  </a:ext>
                </a:extLst>
              </a:tr>
              <a:tr h="15737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7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7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540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NOT R1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3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1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3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0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1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extLst>
                  <a:ext uri="{0D108BD9-81ED-4DB2-BD59-A6C34878D82A}">
                    <a16:rowId xmlns:a16="http://schemas.microsoft.com/office/drawing/2014/main" val="30699640"/>
                  </a:ext>
                </a:extLst>
              </a:tr>
              <a:tr h="15737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8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8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c00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NOP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3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3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0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1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extLst>
                  <a:ext uri="{0D108BD9-81ED-4DB2-BD59-A6C34878D82A}">
                    <a16:rowId xmlns:a16="http://schemas.microsoft.com/office/drawing/2014/main" val="1340868332"/>
                  </a:ext>
                </a:extLst>
              </a:tr>
              <a:tr h="15737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9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9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c00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NOP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15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3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1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1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extLst>
                  <a:ext uri="{0D108BD9-81ED-4DB2-BD59-A6C34878D82A}">
                    <a16:rowId xmlns:a16="http://schemas.microsoft.com/office/drawing/2014/main" val="1590967879"/>
                  </a:ext>
                </a:extLst>
              </a:tr>
              <a:tr h="15737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10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10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XXX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-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X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15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3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0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1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57355" marR="57355" marT="38237" marB="38237" anchor="ctr"/>
                </a:tc>
                <a:extLst>
                  <a:ext uri="{0D108BD9-81ED-4DB2-BD59-A6C34878D82A}">
                    <a16:rowId xmlns:a16="http://schemas.microsoft.com/office/drawing/2014/main" val="3986615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316411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2" grpId="0"/>
      <p:bldP spid="5" grpId="0" animBg="1"/>
    </p:bldLst>
  </p:timing>
</p:sld>
</file>

<file path=ppt/theme/theme1.xml><?xml version="1.0" encoding="utf-8"?>
<a:theme xmlns:a="http://schemas.openxmlformats.org/drawingml/2006/main" name="SlidesAI Simp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xe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xe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3D35697-835C-479C-9488-031738110C11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9B95678-D4A7-4A68-A606-D3F7DDA37094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572</Words>
  <Application>Microsoft Office PowerPoint</Application>
  <PresentationFormat>Widescreen</PresentationFormat>
  <Paragraphs>206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Lexend</vt:lpstr>
      <vt:lpstr>Aptos</vt:lpstr>
      <vt:lpstr>Instrument Sans</vt:lpstr>
      <vt:lpstr>Lexend Black</vt:lpstr>
      <vt:lpstr>Lexend SemiBold</vt:lpstr>
      <vt:lpstr>Inter</vt:lpstr>
      <vt:lpstr>Arial</vt:lpstr>
      <vt:lpstr>SlidesAI Simple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Long Hoang</dc:creator>
  <cp:lastModifiedBy>Long Hoang</cp:lastModifiedBy>
  <cp:revision>10</cp:revision>
  <dcterms:created xsi:type="dcterms:W3CDTF">2026-10-08T13:34:07Z</dcterms:created>
  <dcterms:modified xsi:type="dcterms:W3CDTF">2026-10-09T02:25:10Z</dcterms:modified>
</cp:coreProperties>
</file>